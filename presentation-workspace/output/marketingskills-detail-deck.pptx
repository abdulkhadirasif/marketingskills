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0fab0431e94b4e" /><Relationship Type="http://schemas.openxmlformats.org/officeDocument/2006/relationships/extended-properties" Target="/docProps/app.xml" Id="R30931cd6051647a0" /><Relationship Type="http://schemas.openxmlformats.org/officeDocument/2006/relationships/officeDocument" Target="/ppt/presentation.xml" Id="R8dfaff0c1b5b42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2c75d10cc745c1"/>
  </p:sldMasterIdLst>
  <p:notesMasterIdLst>
    <p:notesMasterId xmlns:r="http://schemas.openxmlformats.org/officeDocument/2006/relationships" r:id="R9663c2a59b184e6c"/>
  </p:notesMasterIdLst>
  <p:sldIdLst>
    <p:sldId xmlns:r="http://schemas.openxmlformats.org/officeDocument/2006/relationships" id="256" r:id="R72c9a850a23a4d20"/>
    <p:sldId xmlns:r="http://schemas.openxmlformats.org/officeDocument/2006/relationships" id="257" r:id="Rbbf104810a8a491d"/>
    <p:sldId xmlns:r="http://schemas.openxmlformats.org/officeDocument/2006/relationships" id="258" r:id="R53211561a9204dae"/>
    <p:sldId xmlns:r="http://schemas.openxmlformats.org/officeDocument/2006/relationships" id="259" r:id="R9d0fcf6bbb574b46"/>
    <p:sldId xmlns:r="http://schemas.openxmlformats.org/officeDocument/2006/relationships" id="260" r:id="R54a86983c5fe470c"/>
    <p:sldId xmlns:r="http://schemas.openxmlformats.org/officeDocument/2006/relationships" id="261" r:id="R8b2bb331e4374181"/>
    <p:sldId xmlns:r="http://schemas.openxmlformats.org/officeDocument/2006/relationships" id="262" r:id="Rebba1dacb27a431d"/>
    <p:sldId xmlns:r="http://schemas.openxmlformats.org/officeDocument/2006/relationships" id="263" r:id="R53f56c77e749406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c75d10cc745c1" /><Relationship Type="http://schemas.openxmlformats.org/officeDocument/2006/relationships/theme" Target="/ppt/theme/theme1.xml" Id="Rddef64e96e0c45be" /><Relationship Type="http://schemas.openxmlformats.org/officeDocument/2006/relationships/notesMaster" Target="/ppt/notesMasters/notesMaster1.xml" Id="R9663c2a59b184e6c" /><Relationship Type="http://schemas.openxmlformats.org/officeDocument/2006/relationships/presProps" Target="/ppt/presProps.xml" Id="R0013fbbd92b24b4b" /><Relationship Type="http://schemas.openxmlformats.org/officeDocument/2006/relationships/viewProps" Target="/ppt/viewProps.xml" Id="R4c66e278bcd14dbd" /><Relationship Type="http://schemas.openxmlformats.org/officeDocument/2006/relationships/tableStyles" Target="/ppt/tableStyles.xml" Id="R20343a21ea584b0d" /><Relationship Type="http://schemas.openxmlformats.org/officeDocument/2006/relationships/slide" Target="/ppt/slides/slide1.xml" Id="R72c9a850a23a4d20" /><Relationship Type="http://schemas.openxmlformats.org/officeDocument/2006/relationships/slide" Target="/ppt/slides/slide2.xml" Id="Rbbf104810a8a491d" /><Relationship Type="http://schemas.openxmlformats.org/officeDocument/2006/relationships/slide" Target="/ppt/slides/slide3.xml" Id="R53211561a9204dae" /><Relationship Type="http://schemas.openxmlformats.org/officeDocument/2006/relationships/slide" Target="/ppt/slides/slide4.xml" Id="R9d0fcf6bbb574b46" /><Relationship Type="http://schemas.openxmlformats.org/officeDocument/2006/relationships/slide" Target="/ppt/slides/slide5.xml" Id="R54a86983c5fe470c" /><Relationship Type="http://schemas.openxmlformats.org/officeDocument/2006/relationships/slide" Target="/ppt/slides/slide6.xml" Id="R8b2bb331e4374181" /><Relationship Type="http://schemas.openxmlformats.org/officeDocument/2006/relationships/slide" Target="/ppt/slides/slide7.xml" Id="Rebba1dacb27a431d" /><Relationship Type="http://schemas.openxmlformats.org/officeDocument/2006/relationships/slide" Target="/ppt/slides/slide8.xml" Id="R53f56c77e749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902795d6b3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2f801c789e49b8" /><Relationship Type="http://schemas.openxmlformats.org/officeDocument/2006/relationships/notesMaster" Target="/ppt/notesMasters/notesMaster1.xml" Id="R965c312dc7ca46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3de665e19e4a70" /><Relationship Type="http://schemas.openxmlformats.org/officeDocument/2006/relationships/notesMaster" Target="/ppt/notesMasters/notesMaster1.xml" Id="Rb3e3a9a2e00e4c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cc750a10214961" /><Relationship Type="http://schemas.openxmlformats.org/officeDocument/2006/relationships/notesMaster" Target="/ppt/notesMasters/notesMaster1.xml" Id="Rd78a66472ef146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97d41f63ad4a84" /><Relationship Type="http://schemas.openxmlformats.org/officeDocument/2006/relationships/notesMaster" Target="/ppt/notesMasters/notesMaster1.xml" Id="R0bb5d0798a6d4e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21b8e9b92b4952" /><Relationship Type="http://schemas.openxmlformats.org/officeDocument/2006/relationships/notesMaster" Target="/ppt/notesMasters/notesMaster1.xml" Id="R978165e0ee094a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cd41bfae2c4c30" /><Relationship Type="http://schemas.openxmlformats.org/officeDocument/2006/relationships/notesMaster" Target="/ppt/notesMasters/notesMaster1.xml" Id="R65ad558f03c845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7280bdd1bd411b" /><Relationship Type="http://schemas.openxmlformats.org/officeDocument/2006/relationships/notesMaster" Target="/ppt/notesMasters/notesMaster1.xml" Id="R78303abb76db4c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28eed4b8204c7b" /><Relationship Type="http://schemas.openxmlformats.org/officeDocument/2006/relationships/notesMaster" Target="/ppt/notesMasters/notesMaster1.xml" Id="R799c9cb1a6344e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707a1c15c4d1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a926f0656d54541" /><Relationship Type="http://schemas.openxmlformats.org/officeDocument/2006/relationships/slideLayout" Target="/ppt/slideLayouts/slideLayout2.xml" Id="R2ab5e744a6e14c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b5e744a6e14c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9630413f2140f4" /><Relationship Type="http://schemas.openxmlformats.org/officeDocument/2006/relationships/notesSlide" Target="/ppt/notesSlides/notesSlide1.xml" Id="Rd8f6f6613eb946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696d9e2c342d2" /><Relationship Type="http://schemas.openxmlformats.org/officeDocument/2006/relationships/notesSlide" Target="/ppt/notesSlides/notesSlide2.xml" Id="R2b8406af12f343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33b79e27634847" /><Relationship Type="http://schemas.openxmlformats.org/officeDocument/2006/relationships/notesSlide" Target="/ppt/notesSlides/notesSlide3.xml" Id="Rb943407fe4c542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503d949d34b65" /><Relationship Type="http://schemas.openxmlformats.org/officeDocument/2006/relationships/notesSlide" Target="/ppt/notesSlides/notesSlide4.xml" Id="R655a8630df7344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5f73cafd074a9e" /><Relationship Type="http://schemas.openxmlformats.org/officeDocument/2006/relationships/notesSlide" Target="/ppt/notesSlides/notesSlide5.xml" Id="R99cf731ca63741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dbd7fc159345d7" /><Relationship Type="http://schemas.openxmlformats.org/officeDocument/2006/relationships/notesSlide" Target="/ppt/notesSlides/notesSlide6.xml" Id="R88701aa0251644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8409191d4c4c17" /><Relationship Type="http://schemas.openxmlformats.org/officeDocument/2006/relationships/notesSlide" Target="/ppt/notesSlides/notesSlide7.xml" Id="R6fcb20953acd48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2a03c6c8c4146" /><Relationship Type="http://schemas.openxmlformats.org/officeDocument/2006/relationships/notesSlide" Target="/ppt/notesSlides/notesSlide8.xml" Id="R0192eae992794f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83B9BBE-61FE-4A6C-A0D1-5D622E40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top-ribbon">
            <a:extLst xmlns:a="http://schemas.openxmlformats.org/drawingml/2006/main">
              <a:ext uri="{FF2B5EF4-FFF2-40B4-BE49-F238E27FC236}">
                <a16:creationId xmlns:a16="http://schemas.microsoft.com/office/drawing/2014/main" id="{B643CA5E-2ED7-471A-8E79-524D3B8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3" name="cover-cream-field">
            <a:extLst xmlns:a="http://schemas.openxmlformats.org/drawingml/2006/main">
              <a:ext uri="{FF2B5EF4-FFF2-40B4-BE49-F238E27FC236}">
                <a16:creationId xmlns:a16="http://schemas.microsoft.com/office/drawing/2014/main" id="{B3384558-AA7F-45ED-A28A-7FF7C272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  <a:prstDash val="solid"/>
          </a:ln>
        </p:spPr>
      </p:sp>
      <p:sp>
        <p:nvSpPr>
          <p:cNvPr id="4" name="cover-coral-disc">
            <a:extLst xmlns:a="http://schemas.openxmlformats.org/drawingml/2006/main">
              <a:ext uri="{FF2B5EF4-FFF2-40B4-BE49-F238E27FC236}">
                <a16:creationId xmlns:a16="http://schemas.microsoft.com/office/drawing/2014/main" id="{9E747A0F-53DF-4398-B33F-E2A8A683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8CD"/>
          </a:solidFill>
          <a:ln xmlns:a="http://schemas.openxmlformats.org/drawingml/2006/main" w="0">
            <a:solidFill>
              <a:srgbClr val="F7D8CD"/>
            </a:solidFill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B44AD48-AA54-438F-81E7-7424673D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6419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6B57"/>
                </a:solidFill>
              </a:defRPr>
            </a:pPr>
            <a:r>
              <a:rPr sz="2100" b="1">
                <a:solidFill>
                  <a:srgbClr val="0E6B57"/>
                </a:solidFill>
              </a:rPr>
              <a:t>MarketingSkills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A548C40-4F9C-46B9-A0A3-753B6D85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55320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11827"/>
                </a:solidFill>
              </a:defRPr>
            </a:pPr>
            <a:r>
              <a:rPr sz="5250" b="1">
                <a:solidFill>
                  <a:srgbClr val="111827"/>
                </a:solidFill>
              </a:rPr>
              <a:t>How agent skills turn prompts into marketing execution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6941EBE-9EC0-46E0-85EE-4ACF6683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5676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B6575"/>
                </a:solidFill>
              </a:defRPr>
            </a:pPr>
            <a:r>
              <a:rPr sz="2025" b="0">
                <a:solidFill>
                  <a:srgbClr val="5B6575"/>
                </a:solidFill>
              </a:rPr>
              <a:t>A practical map of what agents, skills, CLIs, integration guides, and MCP connections do inside this repository.</a:t>
            </a:r>
          </a:p>
        </p:txBody>
      </p:sp>
      <p:sp>
        <p:nvSpPr>
          <p:cNvPr id="8" name="cover-skills-num">
            <a:extLst xmlns:a="http://schemas.openxmlformats.org/drawingml/2006/main">
              <a:ext uri="{FF2B5EF4-FFF2-40B4-BE49-F238E27FC236}">
                <a16:creationId xmlns:a16="http://schemas.microsoft.com/office/drawing/2014/main" id="{4FA0ED49-DECE-4142-A66F-A006520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4381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E6B57"/>
                </a:solidFill>
              </a:defRPr>
            </a:pPr>
            <a:r>
              <a:rPr sz="4050" b="1">
                <a:solidFill>
                  <a:srgbClr val="0E6B57"/>
                </a:solidFill>
              </a:rPr>
              <a:t>41</a:t>
            </a:r>
          </a:p>
        </p:txBody>
      </p:sp>
      <p:sp>
        <p:nvSpPr>
          <p:cNvPr id="9" name="cover-skills-label">
            <a:extLst xmlns:a="http://schemas.openxmlformats.org/drawingml/2006/main">
              <a:ext uri="{FF2B5EF4-FFF2-40B4-BE49-F238E27FC236}">
                <a16:creationId xmlns:a16="http://schemas.microsoft.com/office/drawing/2014/main" id="{518575B8-1370-4AF1-BB4A-6F2B71F5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marketing skills</a:t>
            </a:r>
          </a:p>
        </p:txBody>
      </p:sp>
      <p:sp>
        <p:nvSpPr>
          <p:cNvPr id="10" name="cover-refs-num">
            <a:extLst xmlns:a="http://schemas.openxmlformats.org/drawingml/2006/main">
              <a:ext uri="{FF2B5EF4-FFF2-40B4-BE49-F238E27FC236}">
                <a16:creationId xmlns:a16="http://schemas.microsoft.com/office/drawing/2014/main" id="{C8AFCAEA-11EF-417E-8CAB-B5B1720E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324100"/>
            <a:ext cx="4381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455A6"/>
                </a:solidFill>
              </a:defRPr>
            </a:pPr>
            <a:r>
              <a:rPr sz="4050" b="1">
                <a:solidFill>
                  <a:srgbClr val="2455A6"/>
                </a:solidFill>
              </a:rPr>
              <a:t>33</a:t>
            </a:r>
          </a:p>
        </p:txBody>
      </p:sp>
      <p:sp>
        <p:nvSpPr>
          <p:cNvPr id="11" name="cover-refs-label">
            <a:extLst xmlns:a="http://schemas.openxmlformats.org/drawingml/2006/main">
              <a:ext uri="{FF2B5EF4-FFF2-40B4-BE49-F238E27FC236}">
                <a16:creationId xmlns:a16="http://schemas.microsoft.com/office/drawing/2014/main" id="{FA9D61C6-42B7-41C7-BF84-9B80DEB8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0099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reference libraries</a:t>
            </a:r>
          </a:p>
        </p:txBody>
      </p:sp>
      <p:sp>
        <p:nvSpPr>
          <p:cNvPr id="12" name="cover-clis-num">
            <a:extLst xmlns:a="http://schemas.openxmlformats.org/drawingml/2006/main">
              <a:ext uri="{FF2B5EF4-FFF2-40B4-BE49-F238E27FC236}">
                <a16:creationId xmlns:a16="http://schemas.microsoft.com/office/drawing/2014/main" id="{3ED29820-812C-4292-9951-DB5748D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4381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45E45"/>
                </a:solidFill>
              </a:defRPr>
            </a:pPr>
            <a:r>
              <a:rPr sz="4050" b="1">
                <a:solidFill>
                  <a:srgbClr val="E45E45"/>
                </a:solidFill>
              </a:rPr>
              <a:t>61</a:t>
            </a:r>
          </a:p>
        </p:txBody>
      </p:sp>
      <p:sp>
        <p:nvSpPr>
          <p:cNvPr id="13" name="cover-clis-label">
            <a:extLst xmlns:a="http://schemas.openxmlformats.org/drawingml/2006/main">
              <a:ext uri="{FF2B5EF4-FFF2-40B4-BE49-F238E27FC236}">
                <a16:creationId xmlns:a16="http://schemas.microsoft.com/office/drawing/2014/main" id="{6B0F4041-5959-493F-883C-18B4687C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CLI adapters</a:t>
            </a:r>
          </a:p>
        </p:txBody>
      </p:sp>
      <p:sp>
        <p:nvSpPr>
          <p:cNvPr id="14" name="cover-mcp-num">
            <a:extLst xmlns:a="http://schemas.openxmlformats.org/drawingml/2006/main">
              <a:ext uri="{FF2B5EF4-FFF2-40B4-BE49-F238E27FC236}">
                <a16:creationId xmlns:a16="http://schemas.microsoft.com/office/drawing/2014/main" id="{ED448D7B-B6DA-4330-B407-DD29610A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695700"/>
            <a:ext cx="4381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8A5C00"/>
                </a:solidFill>
              </a:defRPr>
            </a:pPr>
            <a:r>
              <a:rPr sz="4050" b="1">
                <a:solidFill>
                  <a:srgbClr val="8A5C00"/>
                </a:solidFill>
              </a:rPr>
              <a:t>13</a:t>
            </a:r>
          </a:p>
        </p:txBody>
      </p:sp>
      <p:sp>
        <p:nvSpPr>
          <p:cNvPr id="15" name="cover-mcp-label">
            <a:extLst xmlns:a="http://schemas.openxmlformats.org/drawingml/2006/main">
              <a:ext uri="{FF2B5EF4-FFF2-40B4-BE49-F238E27FC236}">
                <a16:creationId xmlns:a16="http://schemas.microsoft.com/office/drawing/2014/main" id="{FEEE05FE-4BFB-417F-88D2-95EFA5EA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4005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native MCP tools</a:t>
            </a:r>
          </a:p>
        </p:txBody>
      </p:sp>
      <p:sp>
        <p:nvSpPr>
          <p:cNvPr id="16" name="cover-agent-pill">
            <a:extLst xmlns:a="http://schemas.openxmlformats.org/drawingml/2006/main">
              <a:ext uri="{FF2B5EF4-FFF2-40B4-BE49-F238E27FC236}">
                <a16:creationId xmlns:a16="http://schemas.microsoft.com/office/drawing/2014/main" id="{C7E73745-2952-4E7B-85A2-0D039AEB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5074920"/>
            <a:ext cx="1850898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17" name="cover-agent-pill-dot">
            <a:extLst xmlns:a="http://schemas.openxmlformats.org/drawingml/2006/main">
              <a:ext uri="{FF2B5EF4-FFF2-40B4-BE49-F238E27FC236}">
                <a16:creationId xmlns:a16="http://schemas.microsoft.com/office/drawing/2014/main" id="{FBA0F20B-EB88-4E3F-A0A6-2408F3D3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81600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18" name="cover-agent-pill-text">
            <a:extLst xmlns:a="http://schemas.openxmlformats.org/drawingml/2006/main">
              <a:ext uri="{FF2B5EF4-FFF2-40B4-BE49-F238E27FC236}">
                <a16:creationId xmlns:a16="http://schemas.microsoft.com/office/drawing/2014/main" id="{1D5252D4-CC62-406A-BC08-F6850855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006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Agent</a:t>
            </a:r>
          </a:p>
        </p:txBody>
      </p:sp>
      <p:sp>
        <p:nvSpPr>
          <p:cNvPr id="19" name="cover-arrow-1">
            <a:extLst xmlns:a="http://schemas.openxmlformats.org/drawingml/2006/main">
              <a:ext uri="{FF2B5EF4-FFF2-40B4-BE49-F238E27FC236}">
                <a16:creationId xmlns:a16="http://schemas.microsoft.com/office/drawing/2014/main" id="{B5375B3B-FBEF-40D3-A969-2DD7CBD2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67300"/>
            <a:ext cx="1847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45E45"/>
                </a:solidFill>
              </a:defRPr>
            </a:pPr>
            <a:r>
              <a:rPr sz="3000" b="1">
                <a:solidFill>
                  <a:srgbClr val="E45E45"/>
                </a:solidFill>
              </a:rPr>
              <a:t>&gt;</a:t>
            </a:r>
          </a:p>
        </p:txBody>
      </p:sp>
      <p:sp>
        <p:nvSpPr>
          <p:cNvPr id="20" name="cover-skill-pill">
            <a:extLst xmlns:a="http://schemas.openxmlformats.org/drawingml/2006/main">
              <a:ext uri="{FF2B5EF4-FFF2-40B4-BE49-F238E27FC236}">
                <a16:creationId xmlns:a16="http://schemas.microsoft.com/office/drawing/2014/main" id="{E105AE3B-E822-46A0-83B4-B128A74C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656" y="5074920"/>
            <a:ext cx="1850898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21" name="cover-skill-pill-dot">
            <a:extLst xmlns:a="http://schemas.openxmlformats.org/drawingml/2006/main">
              <a:ext uri="{FF2B5EF4-FFF2-40B4-BE49-F238E27FC236}">
                <a16:creationId xmlns:a16="http://schemas.microsoft.com/office/drawing/2014/main" id="{5CB82F51-DEFC-4604-9406-9DB999E5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181600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5A6"/>
          </a:solidFill>
          <a:ln xmlns:a="http://schemas.openxmlformats.org/drawingml/2006/main" w="0">
            <a:solidFill>
              <a:srgbClr val="2455A6"/>
            </a:solidFill>
            <a:prstDash val="solid"/>
          </a:ln>
        </p:spPr>
      </p:sp>
      <p:sp>
        <p:nvSpPr>
          <p:cNvPr id="22" name="cover-skill-pill-text">
            <a:extLst xmlns:a="http://schemas.openxmlformats.org/drawingml/2006/main">
              <a:ext uri="{FF2B5EF4-FFF2-40B4-BE49-F238E27FC236}">
                <a16:creationId xmlns:a16="http://schemas.microsoft.com/office/drawing/2014/main" id="{CE37C5A0-D760-40BA-8CD7-EB32703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006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Skill</a:t>
            </a:r>
          </a:p>
        </p:txBody>
      </p:sp>
      <p:sp>
        <p:nvSpPr>
          <p:cNvPr id="23" name="cover-arrow-2">
            <a:extLst xmlns:a="http://schemas.openxmlformats.org/drawingml/2006/main">
              <a:ext uri="{FF2B5EF4-FFF2-40B4-BE49-F238E27FC236}">
                <a16:creationId xmlns:a16="http://schemas.microsoft.com/office/drawing/2014/main" id="{DFC12F16-A59E-455E-B864-89573CF5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067300"/>
            <a:ext cx="1847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45E45"/>
                </a:solidFill>
              </a:defRPr>
            </a:pPr>
            <a:r>
              <a:rPr sz="3000" b="1">
                <a:solidFill>
                  <a:srgbClr val="E45E45"/>
                </a:solidFill>
              </a:rPr>
              <a:t>&gt;</a:t>
            </a:r>
          </a:p>
        </p:txBody>
      </p:sp>
      <p:sp>
        <p:nvSpPr>
          <p:cNvPr id="24" name="cover-tool-pill">
            <a:extLst xmlns:a="http://schemas.openxmlformats.org/drawingml/2006/main">
              <a:ext uri="{FF2B5EF4-FFF2-40B4-BE49-F238E27FC236}">
                <a16:creationId xmlns:a16="http://schemas.microsoft.com/office/drawing/2014/main" id="{21C12D85-94C2-4327-97C5-FDE3D151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7952" y="5074920"/>
            <a:ext cx="1850898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25" name="cover-tool-pill-dot">
            <a:extLst xmlns:a="http://schemas.openxmlformats.org/drawingml/2006/main">
              <a:ext uri="{FF2B5EF4-FFF2-40B4-BE49-F238E27FC236}">
                <a16:creationId xmlns:a16="http://schemas.microsoft.com/office/drawing/2014/main" id="{2C6D368A-7A81-4E19-8B0D-1B81D019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5181600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6" name="cover-tool-pill-text">
            <a:extLst xmlns:a="http://schemas.openxmlformats.org/drawingml/2006/main">
              <a:ext uri="{FF2B5EF4-FFF2-40B4-BE49-F238E27FC236}">
                <a16:creationId xmlns:a16="http://schemas.microsoft.com/office/drawing/2014/main" id="{2445AD6A-18E0-44E7-AF68-5047CB90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2006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Tool/MCP</a:t>
            </a:r>
          </a:p>
        </p:txBody>
      </p:sp>
      <p:sp>
        <p:nvSpPr>
          <p:cNvPr id="2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D7A2A8D4-777F-42AB-B2FA-6616D7E2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6419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6B61"/>
                </a:solidFill>
              </a:defRPr>
            </a:pPr>
            <a:r>
              <a:rPr sz="1050" b="0">
                <a:solidFill>
                  <a:srgbClr val="716B61"/>
                </a:solidFill>
              </a:rPr>
              <a:t>Source: local repository analysis. Snapshot date: 2026-05-11.</a:t>
            </a:r>
          </a:p>
        </p:txBody>
      </p:sp>
    </p:spTree>
    <p:extLst>
      <p:ext uri="{BB962C8B-B14F-4D97-AF65-F5344CB8AC3E}">
        <p14:creationId xmlns:p14="http://schemas.microsoft.com/office/powerpoint/2010/main" val="3606885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4208D85-0CC1-449B-8894-58B40767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top-ribbon">
            <a:extLst xmlns:a="http://schemas.openxmlformats.org/drawingml/2006/main">
              <a:ext uri="{FF2B5EF4-FFF2-40B4-BE49-F238E27FC236}">
                <a16:creationId xmlns:a16="http://schemas.microsoft.com/office/drawing/2014/main" id="{43390A62-BFA8-4D47-B350-5BE7D95C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ABDF38-DF8F-4856-A77D-FC1A8181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9734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The agent is the conductor; the skill is the playbook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FBCFEF-5151-49C2-8CCC-15457B45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2268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575"/>
                </a:solidFill>
              </a:defRPr>
            </a:pPr>
            <a:r>
              <a:rPr sz="1725" b="0">
                <a:solidFill>
                  <a:srgbClr val="5B6575"/>
                </a:solidFill>
              </a:rPr>
              <a:t>The repo does not run a single app. It gives any compatible AI agent structured instructions, references, and tool maps so the agent can do marketing work consistently.</a:t>
            </a:r>
          </a:p>
        </p:txBody>
      </p:sp>
      <p:sp>
        <p:nvSpPr>
          <p:cNvPr id="5" name="agent-card">
            <a:extLst xmlns:a="http://schemas.openxmlformats.org/drawingml/2006/main">
              <a:ext uri="{FF2B5EF4-FFF2-40B4-BE49-F238E27FC236}">
                <a16:creationId xmlns:a16="http://schemas.microsoft.com/office/drawing/2014/main" id="{29CD9240-470D-4522-83A3-C37356FE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384800" cy="6488430"/>
          </a:xfrm>
          <a:prstGeom xmlns:a="http://schemas.openxmlformats.org/drawingml/2006/main" prst="roundRect">
            <a:avLst>
              <a:gd name="adj" fmla="val 21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6" name="agent-card-title">
            <a:extLst xmlns:a="http://schemas.openxmlformats.org/drawingml/2006/main">
              <a:ext uri="{FF2B5EF4-FFF2-40B4-BE49-F238E27FC236}">
                <a16:creationId xmlns:a16="http://schemas.microsoft.com/office/drawing/2014/main" id="{5B73E6B8-E0D0-4296-982D-BE72B4F4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6B57"/>
                </a:solidFill>
              </a:defRPr>
            </a:pPr>
            <a:r>
              <a:rPr sz="1800" b="1">
                <a:solidFill>
                  <a:srgbClr val="0E6B57"/>
                </a:solidFill>
              </a:rPr>
              <a:t>Agent</a:t>
            </a:r>
          </a:p>
        </p:txBody>
      </p:sp>
      <p:sp>
        <p:nvSpPr>
          <p:cNvPr id="7" name="agent-card-body">
            <a:extLst xmlns:a="http://schemas.openxmlformats.org/drawingml/2006/main">
              <a:ext uri="{FF2B5EF4-FFF2-40B4-BE49-F238E27FC236}">
                <a16:creationId xmlns:a16="http://schemas.microsoft.com/office/drawing/2014/main" id="{9DA82E12-CA43-495B-8847-FE480280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4933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Chooses the workflow, gathers context, reads the right skill files, decides whether tool access is needed, and produces the final artifact. It is the active operator.</a:t>
            </a:r>
          </a:p>
        </p:txBody>
      </p:sp>
      <p:sp>
        <p:nvSpPr>
          <p:cNvPr id="8" name="skill-card">
            <a:extLst xmlns:a="http://schemas.openxmlformats.org/drawingml/2006/main">
              <a:ext uri="{FF2B5EF4-FFF2-40B4-BE49-F238E27FC236}">
                <a16:creationId xmlns:a16="http://schemas.microsoft.com/office/drawing/2014/main" id="{54C20838-8A9E-4B03-9F97-6792999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647950"/>
            <a:ext cx="5384800" cy="6488430"/>
          </a:xfrm>
          <a:prstGeom xmlns:a="http://schemas.openxmlformats.org/drawingml/2006/main" prst="roundRect">
            <a:avLst>
              <a:gd name="adj" fmla="val 21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9" name="skill-card-title">
            <a:extLst xmlns:a="http://schemas.openxmlformats.org/drawingml/2006/main">
              <a:ext uri="{FF2B5EF4-FFF2-40B4-BE49-F238E27FC236}">
                <a16:creationId xmlns:a16="http://schemas.microsoft.com/office/drawing/2014/main" id="{19898680-EE7B-442A-AC89-3AAAA4F3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5A6"/>
                </a:solidFill>
              </a:defRPr>
            </a:pPr>
            <a:r>
              <a:rPr sz="1800" b="1">
                <a:solidFill>
                  <a:srgbClr val="2455A6"/>
                </a:solidFill>
              </a:rPr>
              <a:t>Skill</a:t>
            </a:r>
          </a:p>
        </p:txBody>
      </p:sp>
      <p:sp>
        <p:nvSpPr>
          <p:cNvPr id="10" name="skill-card-body">
            <a:extLst xmlns:a="http://schemas.openxmlformats.org/drawingml/2006/main">
              <a:ext uri="{FF2B5EF4-FFF2-40B4-BE49-F238E27FC236}">
                <a16:creationId xmlns:a16="http://schemas.microsoft.com/office/drawing/2014/main" id="{7258468A-7A04-42B3-95AD-E0CB8107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19450"/>
            <a:ext cx="4933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Supplies the domain playbook: triggers, scope boundaries, frameworks, checklists, examples, and expected outputs. It keeps the agent from improvising.</a:t>
            </a:r>
          </a:p>
        </p:txBody>
      </p:sp>
      <p:sp>
        <p:nvSpPr>
          <p:cNvPr id="11" name="tool-card">
            <a:extLst xmlns:a="http://schemas.openxmlformats.org/drawingml/2006/main">
              <a:ext uri="{FF2B5EF4-FFF2-40B4-BE49-F238E27FC236}">
                <a16:creationId xmlns:a16="http://schemas.microsoft.com/office/drawing/2014/main" id="{0633274B-DC32-4145-BBD1-D1D72FC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2647950"/>
            <a:ext cx="5384800" cy="6488430"/>
          </a:xfrm>
          <a:prstGeom xmlns:a="http://schemas.openxmlformats.org/drawingml/2006/main" prst="roundRect">
            <a:avLst>
              <a:gd name="adj" fmla="val 21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12" name="tool-card-title">
            <a:extLst xmlns:a="http://schemas.openxmlformats.org/drawingml/2006/main">
              <a:ext uri="{FF2B5EF4-FFF2-40B4-BE49-F238E27FC236}">
                <a16:creationId xmlns:a16="http://schemas.microsoft.com/office/drawing/2014/main" id="{E7F90518-BCE5-48E0-9104-5D57C8F9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575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45E45"/>
                </a:solidFill>
              </a:defRPr>
            </a:pPr>
            <a:r>
              <a:rPr sz="1800" b="1">
                <a:solidFill>
                  <a:srgbClr val="E45E45"/>
                </a:solidFill>
              </a:rPr>
              <a:t>Tool or MCP</a:t>
            </a:r>
          </a:p>
        </p:txBody>
      </p:sp>
      <p:sp>
        <p:nvSpPr>
          <p:cNvPr id="13" name="tool-card-body">
            <a:extLst xmlns:a="http://schemas.openxmlformats.org/drawingml/2006/main">
              <a:ext uri="{FF2B5EF4-FFF2-40B4-BE49-F238E27FC236}">
                <a16:creationId xmlns:a16="http://schemas.microsoft.com/office/drawing/2014/main" id="{157F3633-582C-4A13-BF7E-0D0C1558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19450"/>
            <a:ext cx="4933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Connects the playbook to external systems. MCP is live read/write access; CLIs are auditable command adapters; integration docs explain auth and endpoints.</a:t>
            </a:r>
          </a:p>
        </p:txBody>
      </p:sp>
      <p:sp>
        <p:nvSpPr>
          <p:cNvPr id="14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30ABB98-1F07-41ED-88C0-B5A10415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107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6B61"/>
                </a:solidFill>
              </a:defRPr>
            </a:pPr>
            <a:r>
              <a:rPr sz="1050" b="0">
                <a:solidFill>
                  <a:srgbClr val="716B61"/>
                </a:solidFill>
              </a:rPr>
              <a:t>Source: AGENTS.md, skill frontmatter, README.md, tools/REGISTRY.md.</a:t>
            </a:r>
          </a:p>
        </p:txBody>
      </p:sp>
    </p:spTree>
    <p:extLst>
      <p:ext uri="{BB962C8B-B14F-4D97-AF65-F5344CB8AC3E}">
        <p14:creationId xmlns:p14="http://schemas.microsoft.com/office/powerpoint/2010/main" val="11552429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9CD22F1-8B84-4733-9172-FA5C7F9F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top-ribbon">
            <a:extLst xmlns:a="http://schemas.openxmlformats.org/drawingml/2006/main">
              <a:ext uri="{FF2B5EF4-FFF2-40B4-BE49-F238E27FC236}">
                <a16:creationId xmlns:a16="http://schemas.microsoft.com/office/drawing/2014/main" id="{A8BB49CF-67D4-4C57-BFFD-C343E64F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3" name="left-cream-field">
            <a:extLst xmlns:a="http://schemas.openxmlformats.org/drawingml/2006/main">
              <a:ext uri="{FF2B5EF4-FFF2-40B4-BE49-F238E27FC236}">
                <a16:creationId xmlns:a16="http://schemas.microsoft.com/office/drawing/2014/main" id="{34E9B70A-BD99-4286-813A-34DFC385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D82C0F-CAD1-42BD-ACB6-2DB69E80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61722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What each skill actually contains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D52108-85F5-48D0-8467-43BCFEC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2268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575"/>
                </a:solidFill>
              </a:defRPr>
            </a:pPr>
            <a:r>
              <a:rPr sz="1725" b="0">
                <a:solidFill>
                  <a:srgbClr val="5B6575"/>
                </a:solidFill>
              </a:rPr>
              <a:t>Every SKILL.md is a compact operating manual: trigger phrases, scope boundaries, decision frameworks, output templates, and pointers to deeper references.</a:t>
            </a:r>
          </a:p>
        </p:txBody>
      </p:sp>
      <p:sp>
        <p:nvSpPr>
          <p:cNvPr id="6" name="anatomy-label">
            <a:extLst xmlns:a="http://schemas.openxmlformats.org/drawingml/2006/main">
              <a:ext uri="{FF2B5EF4-FFF2-40B4-BE49-F238E27FC236}">
                <a16:creationId xmlns:a16="http://schemas.microsoft.com/office/drawing/2014/main" id="{BDB28B10-F626-4899-8B66-FFC5A928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13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E6B57"/>
                </a:solidFill>
              </a:defRPr>
            </a:pPr>
            <a:r>
              <a:rPr sz="1875" b="1">
                <a:solidFill>
                  <a:srgbClr val="0E6B57"/>
                </a:solidFill>
              </a:rPr>
              <a:t>Skill anatomy</a:t>
            </a:r>
          </a:p>
        </p:txBody>
      </p:sp>
      <p:sp>
        <p:nvSpPr>
          <p:cNvPr id="7" name="skill-count-num">
            <a:extLst xmlns:a="http://schemas.openxmlformats.org/drawingml/2006/main">
              <a:ext uri="{FF2B5EF4-FFF2-40B4-BE49-F238E27FC236}">
                <a16:creationId xmlns:a16="http://schemas.microsoft.com/office/drawing/2014/main" id="{82E8A4C8-AF4C-4F4F-A1C4-83FD7BF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5791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E6B57"/>
                </a:solidFill>
              </a:defRPr>
            </a:pPr>
            <a:r>
              <a:rPr sz="4050" b="1">
                <a:solidFill>
                  <a:srgbClr val="0E6B57"/>
                </a:solidFill>
              </a:rPr>
              <a:t>41</a:t>
            </a:r>
          </a:p>
        </p:txBody>
      </p:sp>
      <p:sp>
        <p:nvSpPr>
          <p:cNvPr id="8" name="skill-count-label">
            <a:extLst xmlns:a="http://schemas.openxmlformats.org/drawingml/2006/main">
              <a:ext uri="{FF2B5EF4-FFF2-40B4-BE49-F238E27FC236}">
                <a16:creationId xmlns:a16="http://schemas.microsoft.com/office/drawing/2014/main" id="{CC9490EF-F5ED-4529-9865-0BFF298B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79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SKILL.md files</a:t>
            </a:r>
          </a:p>
        </p:txBody>
      </p:sp>
      <p:sp>
        <p:nvSpPr>
          <p:cNvPr id="9" name="ref-count-num">
            <a:extLst xmlns:a="http://schemas.openxmlformats.org/drawingml/2006/main">
              <a:ext uri="{FF2B5EF4-FFF2-40B4-BE49-F238E27FC236}">
                <a16:creationId xmlns:a16="http://schemas.microsoft.com/office/drawing/2014/main" id="{B5B13EED-1706-4DAF-8F2F-E5505CDC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5791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455A6"/>
                </a:solidFill>
              </a:defRPr>
            </a:pPr>
            <a:r>
              <a:rPr sz="4050" b="1">
                <a:solidFill>
                  <a:srgbClr val="2455A6"/>
                </a:solidFill>
              </a:rPr>
              <a:t>33</a:t>
            </a:r>
          </a:p>
        </p:txBody>
      </p:sp>
      <p:sp>
        <p:nvSpPr>
          <p:cNvPr id="10" name="ref-count-label">
            <a:extLst xmlns:a="http://schemas.openxmlformats.org/drawingml/2006/main">
              <a:ext uri="{FF2B5EF4-FFF2-40B4-BE49-F238E27FC236}">
                <a16:creationId xmlns:a16="http://schemas.microsoft.com/office/drawing/2014/main" id="{79556878-ACEA-4A87-BBF0-3AB8071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579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reference folders</a:t>
            </a:r>
          </a:p>
        </p:txBody>
      </p:sp>
      <p:sp>
        <p:nvSpPr>
          <p:cNvPr id="11" name="dep-count-num">
            <a:extLst xmlns:a="http://schemas.openxmlformats.org/drawingml/2006/main">
              <a:ext uri="{FF2B5EF4-FFF2-40B4-BE49-F238E27FC236}">
                <a16:creationId xmlns:a16="http://schemas.microsoft.com/office/drawing/2014/main" id="{E1F43350-2A1B-4B20-8756-80E7AFA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15050"/>
            <a:ext cx="5791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45E45"/>
                </a:solidFill>
              </a:defRPr>
            </a:pPr>
            <a:r>
              <a:rPr sz="4050" b="1">
                <a:solidFill>
                  <a:srgbClr val="E45E45"/>
                </a:solidFill>
              </a:rPr>
              <a:t>0</a:t>
            </a:r>
          </a:p>
        </p:txBody>
      </p:sp>
      <p:sp>
        <p:nvSpPr>
          <p:cNvPr id="12" name="dep-count-label">
            <a:extLst xmlns:a="http://schemas.openxmlformats.org/drawingml/2006/main">
              <a:ext uri="{FF2B5EF4-FFF2-40B4-BE49-F238E27FC236}">
                <a16:creationId xmlns:a16="http://schemas.microsoft.com/office/drawing/2014/main" id="{B3739331-61E4-49A4-B4E3-D7C41345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19900"/>
            <a:ext cx="579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runtime dependencies in skills</a:t>
            </a:r>
          </a:p>
        </p:txBody>
      </p:sp>
      <p:sp>
        <p:nvSpPr>
          <p:cNvPr id="13" name="skill-discovery-mark">
            <a:extLst xmlns:a="http://schemas.openxmlformats.org/drawingml/2006/main">
              <a:ext uri="{FF2B5EF4-FFF2-40B4-BE49-F238E27FC236}">
                <a16:creationId xmlns:a16="http://schemas.microsoft.com/office/drawing/2014/main" id="{BE23D03A-0ADA-4E7A-9C55-8E195485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670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14" name="skill-discovery-title">
            <a:extLst xmlns:a="http://schemas.openxmlformats.org/drawingml/2006/main">
              <a:ext uri="{FF2B5EF4-FFF2-40B4-BE49-F238E27FC236}">
                <a16:creationId xmlns:a16="http://schemas.microsoft.com/office/drawing/2014/main" id="{D365886A-E266-4A35-A83A-9C0FE8F3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Discovery</a:t>
            </a:r>
          </a:p>
        </p:txBody>
      </p:sp>
      <p:sp>
        <p:nvSpPr>
          <p:cNvPr id="15" name="skill-discovery-body">
            <a:extLst xmlns:a="http://schemas.openxmlformats.org/drawingml/2006/main">
              <a:ext uri="{FF2B5EF4-FFF2-40B4-BE49-F238E27FC236}">
                <a16:creationId xmlns:a16="http://schemas.microsoft.com/office/drawing/2014/main" id="{014E968F-AEBC-49B8-AF53-CF35B45A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48000"/>
            <a:ext cx="4210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Frontmatter names the skill and describes trigger phrases so agents pick the right playbook.</a:t>
            </a:r>
          </a:p>
        </p:txBody>
      </p:sp>
      <p:sp>
        <p:nvSpPr>
          <p:cNvPr id="16" name="skill-reasoning-mark">
            <a:extLst xmlns:a="http://schemas.openxmlformats.org/drawingml/2006/main">
              <a:ext uri="{FF2B5EF4-FFF2-40B4-BE49-F238E27FC236}">
                <a16:creationId xmlns:a16="http://schemas.microsoft.com/office/drawing/2014/main" id="{DBB54ACB-35F9-4468-86C9-CFED3CF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26670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55A6"/>
          </a:solidFill>
          <a:ln xmlns:a="http://schemas.openxmlformats.org/drawingml/2006/main" w="0">
            <a:solidFill>
              <a:srgbClr val="2455A6"/>
            </a:solidFill>
            <a:prstDash val="solid"/>
          </a:ln>
        </p:spPr>
      </p:sp>
      <p:sp>
        <p:nvSpPr>
          <p:cNvPr id="17" name="skill-reasoning-title">
            <a:extLst xmlns:a="http://schemas.openxmlformats.org/drawingml/2006/main">
              <a:ext uri="{FF2B5EF4-FFF2-40B4-BE49-F238E27FC236}">
                <a16:creationId xmlns:a16="http://schemas.microsoft.com/office/drawing/2014/main" id="{D1712D95-BF5F-40BD-9B21-B2BDA28B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6479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Reasoning</a:t>
            </a:r>
          </a:p>
        </p:txBody>
      </p:sp>
      <p:sp>
        <p:nvSpPr>
          <p:cNvPr id="18" name="skill-reasoning-body">
            <a:extLst xmlns:a="http://schemas.openxmlformats.org/drawingml/2006/main">
              <a:ext uri="{FF2B5EF4-FFF2-40B4-BE49-F238E27FC236}">
                <a16:creationId xmlns:a16="http://schemas.microsoft.com/office/drawing/2014/main" id="{D3F2B767-E3F2-43DB-9891-51EF85C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048000"/>
            <a:ext cx="4191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The body explains how to analyze the marketing problem before producing tactical outputs.</a:t>
            </a:r>
          </a:p>
        </p:txBody>
      </p:sp>
      <p:sp>
        <p:nvSpPr>
          <p:cNvPr id="19" name="skill-boundaries-mark">
            <a:extLst xmlns:a="http://schemas.openxmlformats.org/drawingml/2006/main">
              <a:ext uri="{FF2B5EF4-FFF2-40B4-BE49-F238E27FC236}">
                <a16:creationId xmlns:a16="http://schemas.microsoft.com/office/drawing/2014/main" id="{246011E1-1358-421A-98DD-327441B7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387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5E45"/>
          </a:solidFill>
          <a:ln xmlns:a="http://schemas.openxmlformats.org/drawingml/2006/main" w="0">
            <a:solidFill>
              <a:srgbClr val="E45E45"/>
            </a:solidFill>
            <a:prstDash val="solid"/>
          </a:ln>
        </p:spPr>
      </p:sp>
      <p:sp>
        <p:nvSpPr>
          <p:cNvPr id="20" name="skill-boundaries-title">
            <a:extLst xmlns:a="http://schemas.openxmlformats.org/drawingml/2006/main">
              <a:ext uri="{FF2B5EF4-FFF2-40B4-BE49-F238E27FC236}">
                <a16:creationId xmlns:a16="http://schemas.microsoft.com/office/drawing/2014/main" id="{DCD1B869-30E0-42BE-AF80-61424BBC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Boundaries</a:t>
            </a:r>
          </a:p>
        </p:txBody>
      </p:sp>
      <p:sp>
        <p:nvSpPr>
          <p:cNvPr id="21" name="skill-boundaries-body">
            <a:extLst xmlns:a="http://schemas.openxmlformats.org/drawingml/2006/main">
              <a:ext uri="{FF2B5EF4-FFF2-40B4-BE49-F238E27FC236}">
                <a16:creationId xmlns:a16="http://schemas.microsoft.com/office/drawing/2014/main" id="{F75BCC1E-2805-428B-BB95-80C7C1BF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38750"/>
            <a:ext cx="426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Related-skill notes prevent broad requests from collapsing into the wrong workflow.</a:t>
            </a:r>
          </a:p>
        </p:txBody>
      </p:sp>
      <p:sp>
        <p:nvSpPr>
          <p:cNvPr id="22" name="skill-references-mark">
            <a:extLst xmlns:a="http://schemas.openxmlformats.org/drawingml/2006/main">
              <a:ext uri="{FF2B5EF4-FFF2-40B4-BE49-F238E27FC236}">
                <a16:creationId xmlns:a16="http://schemas.microsoft.com/office/drawing/2014/main" id="{C7516F76-B88F-486E-9266-C400D8AB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8387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3" name="skill-references-title">
            <a:extLst xmlns:a="http://schemas.openxmlformats.org/drawingml/2006/main">
              <a:ext uri="{FF2B5EF4-FFF2-40B4-BE49-F238E27FC236}">
                <a16:creationId xmlns:a16="http://schemas.microsoft.com/office/drawing/2014/main" id="{87BE99E7-73EC-4CA5-9A21-6B722B43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48387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References</a:t>
            </a:r>
          </a:p>
        </p:txBody>
      </p:sp>
      <p:sp>
        <p:nvSpPr>
          <p:cNvPr id="24" name="skill-references-body">
            <a:extLst xmlns:a="http://schemas.openxmlformats.org/drawingml/2006/main">
              <a:ext uri="{FF2B5EF4-FFF2-40B4-BE49-F238E27FC236}">
                <a16:creationId xmlns:a16="http://schemas.microsoft.com/office/drawing/2014/main" id="{20D7A5CD-AA03-4CB2-A62A-C48AE992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238750"/>
            <a:ext cx="3810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Optional reference folders hold deeper frameworks, examples, checklists, and tool-specific guidance.</a:t>
            </a:r>
          </a:p>
        </p:txBody>
      </p:sp>
      <p:sp>
        <p:nvSpPr>
          <p:cNvPr id="25" name="skill-context-mark">
            <a:extLst xmlns:a="http://schemas.openxmlformats.org/drawingml/2006/main">
              <a:ext uri="{FF2B5EF4-FFF2-40B4-BE49-F238E27FC236}">
                <a16:creationId xmlns:a16="http://schemas.microsoft.com/office/drawing/2014/main" id="{7613C6E2-E280-4FF2-9C90-53DC9BA3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2390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26" name="skill-context-title">
            <a:extLst xmlns:a="http://schemas.openxmlformats.org/drawingml/2006/main">
              <a:ext uri="{FF2B5EF4-FFF2-40B4-BE49-F238E27FC236}">
                <a16:creationId xmlns:a16="http://schemas.microsoft.com/office/drawing/2014/main" id="{150CDB73-3B8C-4165-8349-19E87B40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2390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Product context</a:t>
            </a:r>
          </a:p>
        </p:txBody>
      </p:sp>
      <p:sp>
        <p:nvSpPr>
          <p:cNvPr id="27" name="skill-context-body">
            <a:extLst xmlns:a="http://schemas.openxmlformats.org/drawingml/2006/main">
              <a:ext uri="{FF2B5EF4-FFF2-40B4-BE49-F238E27FC236}">
                <a16:creationId xmlns:a16="http://schemas.microsoft.com/office/drawing/2014/main" id="{6E5F066A-8515-4E50-A8A4-8624CD9E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639050"/>
            <a:ext cx="422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Many skills expect .agents/product-marketing-context.md so outputs use the real ICP, positioning, and offer.</a:t>
            </a:r>
          </a:p>
        </p:txBody>
      </p:sp>
      <p:sp>
        <p:nvSpPr>
          <p:cNvPr id="28" name="skill-outputs-mark">
            <a:extLst xmlns:a="http://schemas.openxmlformats.org/drawingml/2006/main">
              <a:ext uri="{FF2B5EF4-FFF2-40B4-BE49-F238E27FC236}">
                <a16:creationId xmlns:a16="http://schemas.microsoft.com/office/drawing/2014/main" id="{8BF33A2D-8CDC-4E5D-8423-E5B1BCE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72390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55A6"/>
          </a:solidFill>
          <a:ln xmlns:a="http://schemas.openxmlformats.org/drawingml/2006/main" w="0">
            <a:solidFill>
              <a:srgbClr val="2455A6"/>
            </a:solidFill>
            <a:prstDash val="solid"/>
          </a:ln>
        </p:spPr>
      </p:sp>
      <p:sp>
        <p:nvSpPr>
          <p:cNvPr id="29" name="skill-outputs-title">
            <a:extLst xmlns:a="http://schemas.openxmlformats.org/drawingml/2006/main">
              <a:ext uri="{FF2B5EF4-FFF2-40B4-BE49-F238E27FC236}">
                <a16:creationId xmlns:a16="http://schemas.microsoft.com/office/drawing/2014/main" id="{A057F171-C446-4FB7-BA7B-9901EB7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72390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Reusable outputs</a:t>
            </a:r>
          </a:p>
        </p:txBody>
      </p:sp>
      <p:sp>
        <p:nvSpPr>
          <p:cNvPr id="30" name="skill-outputs-body">
            <a:extLst xmlns:a="http://schemas.openxmlformats.org/drawingml/2006/main">
              <a:ext uri="{FF2B5EF4-FFF2-40B4-BE49-F238E27FC236}">
                <a16:creationId xmlns:a16="http://schemas.microsoft.com/office/drawing/2014/main" id="{295768B3-44FA-48A1-B2FD-B97B864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7639050"/>
            <a:ext cx="4038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Skills steer agents toward concrete artifacts: audits, trackers, copy, launch plans, scripts, schemas, or briefs.</a:t>
            </a:r>
          </a:p>
        </p:txBody>
      </p:sp>
      <p:sp>
        <p:nvSpPr>
          <p:cNvPr id="31" name="source-rail">
            <a:extLst xmlns:a="http://schemas.openxmlformats.org/drawingml/2006/main">
              <a:ext uri="{FF2B5EF4-FFF2-40B4-BE49-F238E27FC236}">
                <a16:creationId xmlns:a16="http://schemas.microsoft.com/office/drawing/2014/main" id="{F3FF0015-E77A-45AB-A4DD-0D9C7872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107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6B61"/>
                </a:solidFill>
              </a:defRPr>
            </a:pPr>
            <a:r>
              <a:rPr sz="1050" b="0">
                <a:solidFill>
                  <a:srgbClr val="716B61"/>
                </a:solidFill>
              </a:rPr>
              <a:t>Source: .github/skills/*/SKILL.md and skill reference directories.</a:t>
            </a:r>
          </a:p>
        </p:txBody>
      </p:sp>
    </p:spTree>
    <p:extLst>
      <p:ext uri="{BB962C8B-B14F-4D97-AF65-F5344CB8AC3E}">
        <p14:creationId xmlns:p14="http://schemas.microsoft.com/office/powerpoint/2010/main" val="6514058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4E74806-8BD2-4F41-9AE8-FD42ED3A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top-ribbon">
            <a:extLst xmlns:a="http://schemas.openxmlformats.org/drawingml/2006/main">
              <a:ext uri="{FF2B5EF4-FFF2-40B4-BE49-F238E27FC236}">
                <a16:creationId xmlns:a16="http://schemas.microsoft.com/office/drawing/2014/main" id="{A87A878B-392A-44C8-800F-2A534E4A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9041F6-1676-4A3D-BD4E-00202050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8972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The 41 skills cluster around the growth lifecycle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6CD4FA-BDC2-4997-AB4D-8D1D9A40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1753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575"/>
                </a:solidFill>
              </a:defRPr>
            </a:pPr>
            <a:r>
              <a:rPr sz="1725" b="0">
                <a:solidFill>
                  <a:srgbClr val="5B6575"/>
                </a:solidFill>
              </a:rPr>
              <a:t>The library covers both thinking work and execution work: strategy, acquisition, conversion, lifecycle, research, and revenue systems.</a:t>
            </a:r>
          </a:p>
        </p:txBody>
      </p:sp>
      <p:sp>
        <p:nvSpPr>
          <p:cNvPr id="5" name="group-1">
            <a:extLst xmlns:a="http://schemas.openxmlformats.org/drawingml/2006/main">
              <a:ext uri="{FF2B5EF4-FFF2-40B4-BE49-F238E27FC236}">
                <a16:creationId xmlns:a16="http://schemas.microsoft.com/office/drawing/2014/main" id="{7E5B32B4-C623-483C-A94B-5B0EFA93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5397500" cy="3110865"/>
          </a:xfrm>
          <a:prstGeom xmlns:a="http://schemas.openxmlformats.org/drawingml/2006/main" prst="roundRect">
            <a:avLst>
              <a:gd name="adj" fmla="val 3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6" name="group-1-title">
            <a:extLst xmlns:a="http://schemas.openxmlformats.org/drawingml/2006/main">
              <a:ext uri="{FF2B5EF4-FFF2-40B4-BE49-F238E27FC236}">
                <a16:creationId xmlns:a16="http://schemas.microsoft.com/office/drawing/2014/main" id="{15965880-75FA-4307-8467-EE015F1D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6B57"/>
                </a:solidFill>
              </a:defRPr>
            </a:pPr>
            <a:r>
              <a:rPr sz="1800" b="1">
                <a:solidFill>
                  <a:srgbClr val="0E6B57"/>
                </a:solidFill>
              </a:rPr>
              <a:t>Strategy</a:t>
            </a:r>
          </a:p>
        </p:txBody>
      </p:sp>
      <p:sp>
        <p:nvSpPr>
          <p:cNvPr id="7" name="group-1-body">
            <a:extLst xmlns:a="http://schemas.openxmlformats.org/drawingml/2006/main">
              <a:ext uri="{FF2B5EF4-FFF2-40B4-BE49-F238E27FC236}">
                <a16:creationId xmlns:a16="http://schemas.microsoft.com/office/drawing/2014/main" id="{60934008-A9DC-4896-A3D2-89F665A9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content-strategy, launch-strategy, pricing-strategy, marketing-ideas, co-marketing</a:t>
            </a:r>
          </a:p>
        </p:txBody>
      </p:sp>
      <p:sp>
        <p:nvSpPr>
          <p:cNvPr id="8" name="group-2">
            <a:extLst xmlns:a="http://schemas.openxmlformats.org/drawingml/2006/main">
              <a:ext uri="{FF2B5EF4-FFF2-40B4-BE49-F238E27FC236}">
                <a16:creationId xmlns:a16="http://schemas.microsoft.com/office/drawing/2014/main" id="{B084B0CC-8521-4EDD-ACED-8AFD58BD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667000"/>
            <a:ext cx="5397500" cy="3110865"/>
          </a:xfrm>
          <a:prstGeom xmlns:a="http://schemas.openxmlformats.org/drawingml/2006/main" prst="roundRect">
            <a:avLst>
              <a:gd name="adj" fmla="val 3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9" name="group-2-title">
            <a:extLst xmlns:a="http://schemas.openxmlformats.org/drawingml/2006/main">
              <a:ext uri="{FF2B5EF4-FFF2-40B4-BE49-F238E27FC236}">
                <a16:creationId xmlns:a16="http://schemas.microsoft.com/office/drawing/2014/main" id="{60D21DEF-D96B-4073-A00E-5AAC42B6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45E45"/>
                </a:solidFill>
              </a:defRPr>
            </a:pPr>
            <a:r>
              <a:rPr sz="1800" b="1">
                <a:solidFill>
                  <a:srgbClr val="E45E45"/>
                </a:solidFill>
              </a:rPr>
              <a:t>Conversion</a:t>
            </a:r>
          </a:p>
        </p:txBody>
      </p:sp>
      <p:sp>
        <p:nvSpPr>
          <p:cNvPr id="10" name="group-2-body">
            <a:extLst xmlns:a="http://schemas.openxmlformats.org/drawingml/2006/main">
              <a:ext uri="{FF2B5EF4-FFF2-40B4-BE49-F238E27FC236}">
                <a16:creationId xmlns:a16="http://schemas.microsoft.com/office/drawing/2014/main" id="{2B17C346-17FC-4E2C-87E9-8CA80AE7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page-cro, form-cro, signup-flow-cro, onboarding-cro, paywall-upgrade-cro, popup-cro</a:t>
            </a:r>
          </a:p>
        </p:txBody>
      </p:sp>
      <p:sp>
        <p:nvSpPr>
          <p:cNvPr id="11" name="group-3">
            <a:extLst xmlns:a="http://schemas.openxmlformats.org/drawingml/2006/main">
              <a:ext uri="{FF2B5EF4-FFF2-40B4-BE49-F238E27FC236}">
                <a16:creationId xmlns:a16="http://schemas.microsoft.com/office/drawing/2014/main" id="{7594FE14-BC89-43E2-915E-A31EACB6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2667000"/>
            <a:ext cx="5397500" cy="3110865"/>
          </a:xfrm>
          <a:prstGeom xmlns:a="http://schemas.openxmlformats.org/drawingml/2006/main" prst="roundRect">
            <a:avLst>
              <a:gd name="adj" fmla="val 3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12" name="group-3-title">
            <a:extLst xmlns:a="http://schemas.openxmlformats.org/drawingml/2006/main">
              <a:ext uri="{FF2B5EF4-FFF2-40B4-BE49-F238E27FC236}">
                <a16:creationId xmlns:a16="http://schemas.microsoft.com/office/drawing/2014/main" id="{F2951D9C-1851-4E48-86D8-B6FCBB67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765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5A6"/>
                </a:solidFill>
              </a:defRPr>
            </a:pPr>
            <a:r>
              <a:rPr sz="1800" b="1">
                <a:solidFill>
                  <a:srgbClr val="2455A6"/>
                </a:solidFill>
              </a:rPr>
              <a:t>Acquisition</a:t>
            </a:r>
          </a:p>
        </p:txBody>
      </p:sp>
      <p:sp>
        <p:nvSpPr>
          <p:cNvPr id="13" name="group-3-body">
            <a:extLst xmlns:a="http://schemas.openxmlformats.org/drawingml/2006/main">
              <a:ext uri="{FF2B5EF4-FFF2-40B4-BE49-F238E27FC236}">
                <a16:creationId xmlns:a16="http://schemas.microsoft.com/office/drawing/2014/main" id="{96EC8826-7317-4149-BA99-1D5AE70A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3850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seo-audit, ai-seo, schema-markup, programmatic-seo, paid-ads, ad-creative</a:t>
            </a:r>
          </a:p>
        </p:txBody>
      </p:sp>
      <p:sp>
        <p:nvSpPr>
          <p:cNvPr id="14" name="group-4">
            <a:extLst xmlns:a="http://schemas.openxmlformats.org/drawingml/2006/main">
              <a:ext uri="{FF2B5EF4-FFF2-40B4-BE49-F238E27FC236}">
                <a16:creationId xmlns:a16="http://schemas.microsoft.com/office/drawing/2014/main" id="{F7F586C2-8C1C-4415-A75E-4427785E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6465"/>
            <a:ext cx="5397500" cy="3110865"/>
          </a:xfrm>
          <a:prstGeom xmlns:a="http://schemas.openxmlformats.org/drawingml/2006/main" prst="roundRect">
            <a:avLst>
              <a:gd name="adj" fmla="val 3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15" name="group-4-title">
            <a:extLst xmlns:a="http://schemas.openxmlformats.org/drawingml/2006/main">
              <a:ext uri="{FF2B5EF4-FFF2-40B4-BE49-F238E27FC236}">
                <a16:creationId xmlns:a16="http://schemas.microsoft.com/office/drawing/2014/main" id="{C11C0F1A-DB3A-4A5D-86F8-C165DE57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103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B84B"/>
                </a:solidFill>
              </a:defRPr>
            </a:pPr>
            <a:r>
              <a:rPr sz="1800" b="1">
                <a:solidFill>
                  <a:srgbClr val="F2B84B"/>
                </a:solidFill>
              </a:rPr>
              <a:t>Lifecycle</a:t>
            </a:r>
          </a:p>
        </p:txBody>
      </p:sp>
      <p:sp>
        <p:nvSpPr>
          <p:cNvPr id="16" name="group-4-body">
            <a:extLst xmlns:a="http://schemas.openxmlformats.org/drawingml/2006/main">
              <a:ext uri="{FF2B5EF4-FFF2-40B4-BE49-F238E27FC236}">
                <a16:creationId xmlns:a16="http://schemas.microsoft.com/office/drawing/2014/main" id="{AEB16B94-6496-4229-8EEF-02A31F78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9130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email-sequence, cold-email, churn-prevention, lead-magnets, referral-program</a:t>
            </a:r>
          </a:p>
        </p:txBody>
      </p:sp>
      <p:sp>
        <p:nvSpPr>
          <p:cNvPr id="17" name="group-5">
            <a:extLst xmlns:a="http://schemas.openxmlformats.org/drawingml/2006/main">
              <a:ext uri="{FF2B5EF4-FFF2-40B4-BE49-F238E27FC236}">
                <a16:creationId xmlns:a16="http://schemas.microsoft.com/office/drawing/2014/main" id="{4B88311D-12EA-4B30-8BD6-D1F7C41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6006465"/>
            <a:ext cx="5397500" cy="3110865"/>
          </a:xfrm>
          <a:prstGeom xmlns:a="http://schemas.openxmlformats.org/drawingml/2006/main" prst="roundRect">
            <a:avLst>
              <a:gd name="adj" fmla="val 3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18" name="group-5-title">
            <a:extLst xmlns:a="http://schemas.openxmlformats.org/drawingml/2006/main">
              <a:ext uri="{FF2B5EF4-FFF2-40B4-BE49-F238E27FC236}">
                <a16:creationId xmlns:a16="http://schemas.microsoft.com/office/drawing/2014/main" id="{39223FED-06D0-4DB5-A709-5ED41345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2103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6B57"/>
                </a:solidFill>
              </a:defRPr>
            </a:pPr>
            <a:r>
              <a:rPr sz="1800" b="1">
                <a:solidFill>
                  <a:srgbClr val="0E6B57"/>
                </a:solidFill>
              </a:rPr>
              <a:t>Research</a:t>
            </a:r>
          </a:p>
        </p:txBody>
      </p:sp>
      <p:sp>
        <p:nvSpPr>
          <p:cNvPr id="19" name="group-5-body">
            <a:extLst xmlns:a="http://schemas.openxmlformats.org/drawingml/2006/main">
              <a:ext uri="{FF2B5EF4-FFF2-40B4-BE49-F238E27FC236}">
                <a16:creationId xmlns:a16="http://schemas.microsoft.com/office/drawing/2014/main" id="{0E36AB6B-4989-4E23-90DB-8E14DE3A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9130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customer-research, competitor-profiling, competitor-alternatives, aso-audit</a:t>
            </a:r>
          </a:p>
        </p:txBody>
      </p:sp>
      <p:sp>
        <p:nvSpPr>
          <p:cNvPr id="20" name="group-6">
            <a:extLst xmlns:a="http://schemas.openxmlformats.org/drawingml/2006/main">
              <a:ext uri="{FF2B5EF4-FFF2-40B4-BE49-F238E27FC236}">
                <a16:creationId xmlns:a16="http://schemas.microsoft.com/office/drawing/2014/main" id="{F9E0545E-F808-4F51-B1CA-E3D080F5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6006465"/>
            <a:ext cx="5397500" cy="3110865"/>
          </a:xfrm>
          <a:prstGeom xmlns:a="http://schemas.openxmlformats.org/drawingml/2006/main" prst="roundRect">
            <a:avLst>
              <a:gd name="adj" fmla="val 3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21" name="group-6-title">
            <a:extLst xmlns:a="http://schemas.openxmlformats.org/drawingml/2006/main">
              <a:ext uri="{FF2B5EF4-FFF2-40B4-BE49-F238E27FC236}">
                <a16:creationId xmlns:a16="http://schemas.microsoft.com/office/drawing/2014/main" id="{5937CA35-3337-4B11-9B4C-B81FAA13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2103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5A6"/>
                </a:solidFill>
              </a:defRPr>
            </a:pPr>
            <a:r>
              <a:rPr sz="1800" b="1">
                <a:solidFill>
                  <a:srgbClr val="2455A6"/>
                </a:solidFill>
              </a:rPr>
              <a:t>Revenue</a:t>
            </a:r>
          </a:p>
        </p:txBody>
      </p:sp>
      <p:sp>
        <p:nvSpPr>
          <p:cNvPr id="22" name="group-6-body">
            <a:extLst xmlns:a="http://schemas.openxmlformats.org/drawingml/2006/main">
              <a:ext uri="{FF2B5EF4-FFF2-40B4-BE49-F238E27FC236}">
                <a16:creationId xmlns:a16="http://schemas.microsoft.com/office/drawing/2014/main" id="{3FDBF642-9C6A-45A6-AEE8-531DF06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591300"/>
            <a:ext cx="493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575"/>
                </a:solidFill>
              </a:defRPr>
            </a:pPr>
            <a:r>
              <a:rPr sz="1425" b="0">
                <a:solidFill>
                  <a:srgbClr val="5B6575"/>
                </a:solidFill>
              </a:rPr>
              <a:t>revops, sales-enablement, directory-submissions, social-content, image, video</a:t>
            </a:r>
          </a:p>
        </p:txBody>
      </p:sp>
      <p:sp>
        <p:nvSpPr>
          <p:cNvPr id="2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14FECF8E-A9E5-48ED-AFC1-3901F217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107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6B61"/>
                </a:solidFill>
              </a:defRPr>
            </a:pPr>
            <a:r>
              <a:rPr sz="1050" b="0">
                <a:solidFill>
                  <a:srgbClr val="716B61"/>
                </a:solidFill>
              </a:rPr>
              <a:t>Source: local skill directory names and descriptions.</a:t>
            </a:r>
          </a:p>
        </p:txBody>
      </p:sp>
    </p:spTree>
    <p:extLst>
      <p:ext uri="{BB962C8B-B14F-4D97-AF65-F5344CB8AC3E}">
        <p14:creationId xmlns:p14="http://schemas.microsoft.com/office/powerpoint/2010/main" val="18320361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616675C-0607-4731-BDAC-BE2FD1D4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top-ribbon">
            <a:extLst xmlns:a="http://schemas.openxmlformats.org/drawingml/2006/main">
              <a:ext uri="{FF2B5EF4-FFF2-40B4-BE49-F238E27FC236}">
                <a16:creationId xmlns:a16="http://schemas.microsoft.com/office/drawing/2014/main" id="{5361A063-5397-4E6B-A059-EB9B1C61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157776-70C6-4865-AA5B-22BAD7EB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10210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Skill index: conversion, lifecycle, and demand creation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3B8319-77A1-4F86-B92D-43ED405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8686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575"/>
                </a:solidFill>
              </a:defRPr>
            </a:pPr>
            <a:r>
              <a:rPr sz="1725" b="0">
                <a:solidFill>
                  <a:srgbClr val="5B6575"/>
                </a:solidFill>
              </a:rPr>
              <a:t>Each skill is a specialized playbook. The agent picks one or combines several based on the request.</a:t>
            </a:r>
          </a:p>
        </p:txBody>
      </p:sp>
      <p:sp>
        <p:nvSpPr>
          <p:cNvPr id="5" name="index-a-left">
            <a:extLst xmlns:a="http://schemas.openxmlformats.org/drawingml/2006/main">
              <a:ext uri="{FF2B5EF4-FFF2-40B4-BE49-F238E27FC236}">
                <a16:creationId xmlns:a16="http://schemas.microsoft.com/office/drawing/2014/main" id="{77381C35-6075-46E3-B66F-98F8211D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8201025" cy="648843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6" name="index-a-left-title">
            <a:extLst xmlns:a="http://schemas.openxmlformats.org/drawingml/2006/main">
              <a:ext uri="{FF2B5EF4-FFF2-40B4-BE49-F238E27FC236}">
                <a16:creationId xmlns:a16="http://schemas.microsoft.com/office/drawing/2014/main" id="{3F3618FE-8744-485B-9395-3DAE55AF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782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6B57"/>
                </a:solidFill>
              </a:defRPr>
            </a:pPr>
            <a:r>
              <a:rPr sz="1650" b="1">
                <a:solidFill>
                  <a:srgbClr val="0E6B57"/>
                </a:solidFill>
              </a:rPr>
              <a:t>Conversion and measurement</a:t>
            </a:r>
          </a:p>
        </p:txBody>
      </p:sp>
      <p:sp>
        <p:nvSpPr>
          <p:cNvPr id="7" name="index-a-left-row-1-skill">
            <a:extLst xmlns:a="http://schemas.openxmlformats.org/drawingml/2006/main">
              <a:ext uri="{FF2B5EF4-FFF2-40B4-BE49-F238E27FC236}">
                <a16:creationId xmlns:a16="http://schemas.microsoft.com/office/drawing/2014/main" id="{FC0D92DD-D6D0-46E6-BDDF-07FA4361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ab-test-setup</a:t>
            </a:r>
          </a:p>
        </p:txBody>
      </p:sp>
      <p:sp>
        <p:nvSpPr>
          <p:cNvPr id="8" name="index-a-left-row-1-job">
            <a:extLst xmlns:a="http://schemas.openxmlformats.org/drawingml/2006/main">
              <a:ext uri="{FF2B5EF4-FFF2-40B4-BE49-F238E27FC236}">
                <a16:creationId xmlns:a16="http://schemas.microsoft.com/office/drawing/2014/main" id="{F9585A95-E43B-4E26-870A-D5890F05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813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plan experiments and measurement</a:t>
            </a:r>
          </a:p>
        </p:txBody>
      </p:sp>
      <p:sp>
        <p:nvSpPr>
          <p:cNvPr id="9" name="index-a-left-row-2-skill">
            <a:extLst xmlns:a="http://schemas.openxmlformats.org/drawingml/2006/main">
              <a:ext uri="{FF2B5EF4-FFF2-40B4-BE49-F238E27FC236}">
                <a16:creationId xmlns:a16="http://schemas.microsoft.com/office/drawing/2014/main" id="{9BC29FC9-53AF-46D3-A6A7-DC3633CF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analytics-tracking</a:t>
            </a:r>
          </a:p>
        </p:txBody>
      </p:sp>
      <p:sp>
        <p:nvSpPr>
          <p:cNvPr id="10" name="index-a-left-row-2-job">
            <a:extLst xmlns:a="http://schemas.openxmlformats.org/drawingml/2006/main">
              <a:ext uri="{FF2B5EF4-FFF2-40B4-BE49-F238E27FC236}">
                <a16:creationId xmlns:a16="http://schemas.microsoft.com/office/drawing/2014/main" id="{AAE3717D-D6C1-49B6-9653-C9FA4266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576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define events, conversions, UTMs</a:t>
            </a:r>
          </a:p>
        </p:txBody>
      </p:sp>
      <p:sp>
        <p:nvSpPr>
          <p:cNvPr id="11" name="index-a-left-row-3-skill">
            <a:extLst xmlns:a="http://schemas.openxmlformats.org/drawingml/2006/main">
              <a:ext uri="{FF2B5EF4-FFF2-40B4-BE49-F238E27FC236}">
                <a16:creationId xmlns:a16="http://schemas.microsoft.com/office/drawing/2014/main" id="{1F84D4A8-0739-428A-BECB-0EA4B7EF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page-cro</a:t>
            </a:r>
          </a:p>
        </p:txBody>
      </p:sp>
      <p:sp>
        <p:nvSpPr>
          <p:cNvPr id="12" name="index-a-left-row-3-job">
            <a:extLst xmlns:a="http://schemas.openxmlformats.org/drawingml/2006/main">
              <a:ext uri="{FF2B5EF4-FFF2-40B4-BE49-F238E27FC236}">
                <a16:creationId xmlns:a16="http://schemas.microsoft.com/office/drawing/2014/main" id="{79A8D5B9-A80F-4967-8237-E2A1256B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529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diagnose page conversion issues</a:t>
            </a:r>
          </a:p>
        </p:txBody>
      </p:sp>
      <p:sp>
        <p:nvSpPr>
          <p:cNvPr id="13" name="index-a-left-row-4-skill">
            <a:extLst xmlns:a="http://schemas.openxmlformats.org/drawingml/2006/main">
              <a:ext uri="{FF2B5EF4-FFF2-40B4-BE49-F238E27FC236}">
                <a16:creationId xmlns:a16="http://schemas.microsoft.com/office/drawing/2014/main" id="{1F896D86-AB84-474F-B8A8-4EC07FED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form-cro</a:t>
            </a:r>
          </a:p>
        </p:txBody>
      </p:sp>
      <p:sp>
        <p:nvSpPr>
          <p:cNvPr id="14" name="index-a-left-row-4-job">
            <a:extLst xmlns:a="http://schemas.openxmlformats.org/drawingml/2006/main">
              <a:ext uri="{FF2B5EF4-FFF2-40B4-BE49-F238E27FC236}">
                <a16:creationId xmlns:a16="http://schemas.microsoft.com/office/drawing/2014/main" id="{A1EFF67A-213F-4305-82B8-A94102D6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291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reduce non-signup form friction</a:t>
            </a:r>
          </a:p>
        </p:txBody>
      </p:sp>
      <p:sp>
        <p:nvSpPr>
          <p:cNvPr id="15" name="index-a-left-row-5-skill">
            <a:extLst xmlns:a="http://schemas.openxmlformats.org/drawingml/2006/main">
              <a:ext uri="{FF2B5EF4-FFF2-40B4-BE49-F238E27FC236}">
                <a16:creationId xmlns:a16="http://schemas.microsoft.com/office/drawing/2014/main" id="{D3027112-0745-4BC0-9F37-D3E125E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signup-flow-cro</a:t>
            </a:r>
          </a:p>
        </p:txBody>
      </p:sp>
      <p:sp>
        <p:nvSpPr>
          <p:cNvPr id="16" name="index-a-left-row-5-job">
            <a:extLst xmlns:a="http://schemas.openxmlformats.org/drawingml/2006/main">
              <a:ext uri="{FF2B5EF4-FFF2-40B4-BE49-F238E27FC236}">
                <a16:creationId xmlns:a16="http://schemas.microsoft.com/office/drawing/2014/main" id="{76FA45F6-3F5B-430F-A54F-2C07CD3D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improve account creation flow</a:t>
            </a:r>
          </a:p>
        </p:txBody>
      </p:sp>
      <p:sp>
        <p:nvSpPr>
          <p:cNvPr id="17" name="index-a-left-row-6-skill">
            <a:extLst xmlns:a="http://schemas.openxmlformats.org/drawingml/2006/main">
              <a:ext uri="{FF2B5EF4-FFF2-40B4-BE49-F238E27FC236}">
                <a16:creationId xmlns:a16="http://schemas.microsoft.com/office/drawing/2014/main" id="{96B437C6-A113-479D-B070-2A3DF88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007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onboarding-cro</a:t>
            </a:r>
          </a:p>
        </p:txBody>
      </p:sp>
      <p:sp>
        <p:nvSpPr>
          <p:cNvPr id="18" name="index-a-left-row-6-job">
            <a:extLst xmlns:a="http://schemas.openxmlformats.org/drawingml/2006/main">
              <a:ext uri="{FF2B5EF4-FFF2-40B4-BE49-F238E27FC236}">
                <a16:creationId xmlns:a16="http://schemas.microsoft.com/office/drawing/2014/main" id="{33EE2F98-3ABD-4ABE-A394-4CC83E5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007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increase activation and time-to-value</a:t>
            </a:r>
          </a:p>
        </p:txBody>
      </p:sp>
      <p:sp>
        <p:nvSpPr>
          <p:cNvPr id="19" name="index-a-left-row-7-skill">
            <a:extLst xmlns:a="http://schemas.openxmlformats.org/drawingml/2006/main">
              <a:ext uri="{FF2B5EF4-FFF2-40B4-BE49-F238E27FC236}">
                <a16:creationId xmlns:a16="http://schemas.microsoft.com/office/drawing/2014/main" id="{50CD73C6-4BEB-46BD-A6B5-11CAC02D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96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paywall-upgrade-cro</a:t>
            </a:r>
          </a:p>
        </p:txBody>
      </p:sp>
      <p:sp>
        <p:nvSpPr>
          <p:cNvPr id="20" name="index-a-left-row-7-job">
            <a:extLst xmlns:a="http://schemas.openxmlformats.org/drawingml/2006/main">
              <a:ext uri="{FF2B5EF4-FFF2-40B4-BE49-F238E27FC236}">
                <a16:creationId xmlns:a16="http://schemas.microsoft.com/office/drawing/2014/main" id="{3C201FBE-AE9F-425E-9594-F4AD8C3A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960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improve in-app upgrade prompts</a:t>
            </a:r>
          </a:p>
        </p:txBody>
      </p:sp>
      <p:sp>
        <p:nvSpPr>
          <p:cNvPr id="21" name="index-a-left-row-8-skill">
            <a:extLst xmlns:a="http://schemas.openxmlformats.org/drawingml/2006/main">
              <a:ext uri="{FF2B5EF4-FFF2-40B4-BE49-F238E27FC236}">
                <a16:creationId xmlns:a16="http://schemas.microsoft.com/office/drawing/2014/main" id="{AEA9DFF3-C0C7-436A-B295-AEE66852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722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popup-cro</a:t>
            </a:r>
          </a:p>
        </p:txBody>
      </p:sp>
      <p:sp>
        <p:nvSpPr>
          <p:cNvPr id="22" name="index-a-left-row-8-job">
            <a:extLst xmlns:a="http://schemas.openxmlformats.org/drawingml/2006/main">
              <a:ext uri="{FF2B5EF4-FFF2-40B4-BE49-F238E27FC236}">
                <a16:creationId xmlns:a16="http://schemas.microsoft.com/office/drawing/2014/main" id="{6C281707-C267-449A-9D96-64532445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722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optimize overlays and banners</a:t>
            </a:r>
          </a:p>
        </p:txBody>
      </p:sp>
      <p:sp>
        <p:nvSpPr>
          <p:cNvPr id="23" name="index-a-left-row-9-skill">
            <a:extLst xmlns:a="http://schemas.openxmlformats.org/drawingml/2006/main">
              <a:ext uri="{FF2B5EF4-FFF2-40B4-BE49-F238E27FC236}">
                <a16:creationId xmlns:a16="http://schemas.microsoft.com/office/drawing/2014/main" id="{98BDB796-E53F-4F70-959C-199DC4D7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067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churn-prevention</a:t>
            </a:r>
          </a:p>
        </p:txBody>
      </p:sp>
      <p:sp>
        <p:nvSpPr>
          <p:cNvPr id="24" name="index-a-left-row-9-job">
            <a:extLst xmlns:a="http://schemas.openxmlformats.org/drawingml/2006/main">
              <a:ext uri="{FF2B5EF4-FFF2-40B4-BE49-F238E27FC236}">
                <a16:creationId xmlns:a16="http://schemas.microsoft.com/office/drawing/2014/main" id="{F36F08D2-7B79-4A70-8AE2-42760FA2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0675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reduce cancellations and failed-payment loss</a:t>
            </a:r>
          </a:p>
        </p:txBody>
      </p:sp>
      <p:sp>
        <p:nvSpPr>
          <p:cNvPr id="25" name="index-a-left-row-10-skill">
            <a:extLst xmlns:a="http://schemas.openxmlformats.org/drawingml/2006/main">
              <a:ext uri="{FF2B5EF4-FFF2-40B4-BE49-F238E27FC236}">
                <a16:creationId xmlns:a16="http://schemas.microsoft.com/office/drawing/2014/main" id="{A57DC736-4B83-4DE8-A796-AF571B1E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5438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pricing-strategy</a:t>
            </a:r>
          </a:p>
        </p:txBody>
      </p:sp>
      <p:sp>
        <p:nvSpPr>
          <p:cNvPr id="26" name="index-a-left-row-10-job">
            <a:extLst xmlns:a="http://schemas.openxmlformats.org/drawingml/2006/main">
              <a:ext uri="{FF2B5EF4-FFF2-40B4-BE49-F238E27FC236}">
                <a16:creationId xmlns:a16="http://schemas.microsoft.com/office/drawing/2014/main" id="{820111DB-BB4A-4CA1-9E45-67613B1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5438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shape packages, tiers, value metrics</a:t>
            </a:r>
          </a:p>
        </p:txBody>
      </p:sp>
      <p:sp>
        <p:nvSpPr>
          <p:cNvPr id="27" name="index-a-right">
            <a:extLst xmlns:a="http://schemas.openxmlformats.org/drawingml/2006/main">
              <a:ext uri="{FF2B5EF4-FFF2-40B4-BE49-F238E27FC236}">
                <a16:creationId xmlns:a16="http://schemas.microsoft.com/office/drawing/2014/main" id="{010B4D1D-2438-44B7-942C-7977DF96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47950"/>
            <a:ext cx="8201025" cy="648843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28" name="index-a-right-title">
            <a:extLst xmlns:a="http://schemas.openxmlformats.org/drawingml/2006/main">
              <a:ext uri="{FF2B5EF4-FFF2-40B4-BE49-F238E27FC236}">
                <a16:creationId xmlns:a16="http://schemas.microsoft.com/office/drawing/2014/main" id="{39B49C0A-77CF-4D35-BA5E-B0D89CD8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19400"/>
            <a:ext cx="782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55A6"/>
                </a:solidFill>
              </a:defRPr>
            </a:pPr>
            <a:r>
              <a:rPr sz="1650" b="1">
                <a:solidFill>
                  <a:srgbClr val="2455A6"/>
                </a:solidFill>
              </a:rPr>
              <a:t>Content, email, and ads</a:t>
            </a:r>
          </a:p>
        </p:txBody>
      </p:sp>
      <p:sp>
        <p:nvSpPr>
          <p:cNvPr id="29" name="index-a-right-row-1-skill">
            <a:extLst xmlns:a="http://schemas.openxmlformats.org/drawingml/2006/main">
              <a:ext uri="{FF2B5EF4-FFF2-40B4-BE49-F238E27FC236}">
                <a16:creationId xmlns:a16="http://schemas.microsoft.com/office/drawing/2014/main" id="{716311DD-0201-4969-A808-985A38A2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813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content-strategy</a:t>
            </a:r>
          </a:p>
        </p:txBody>
      </p:sp>
      <p:sp>
        <p:nvSpPr>
          <p:cNvPr id="30" name="index-a-right-row-1-job">
            <a:extLst xmlns:a="http://schemas.openxmlformats.org/drawingml/2006/main">
              <a:ext uri="{FF2B5EF4-FFF2-40B4-BE49-F238E27FC236}">
                <a16:creationId xmlns:a16="http://schemas.microsoft.com/office/drawing/2014/main" id="{75D430FF-142C-4A78-B1AE-49F73A0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1813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choose topics and editorial direction</a:t>
            </a:r>
          </a:p>
        </p:txBody>
      </p:sp>
      <p:sp>
        <p:nvSpPr>
          <p:cNvPr id="31" name="index-a-right-row-2-skill">
            <a:extLst xmlns:a="http://schemas.openxmlformats.org/drawingml/2006/main">
              <a:ext uri="{FF2B5EF4-FFF2-40B4-BE49-F238E27FC236}">
                <a16:creationId xmlns:a16="http://schemas.microsoft.com/office/drawing/2014/main" id="{17A1D5D5-2A7B-4169-AC81-8D879A56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57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copywriting</a:t>
            </a:r>
          </a:p>
        </p:txBody>
      </p:sp>
      <p:sp>
        <p:nvSpPr>
          <p:cNvPr id="32" name="index-a-right-row-2-job">
            <a:extLst xmlns:a="http://schemas.openxmlformats.org/drawingml/2006/main">
              <a:ext uri="{FF2B5EF4-FFF2-40B4-BE49-F238E27FC236}">
                <a16:creationId xmlns:a16="http://schemas.microsoft.com/office/drawing/2014/main" id="{558A88DB-9410-4EB0-BBE3-4779F06E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6576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write persuasive page copy</a:t>
            </a:r>
          </a:p>
        </p:txBody>
      </p:sp>
      <p:sp>
        <p:nvSpPr>
          <p:cNvPr id="33" name="index-a-right-row-3-skill">
            <a:extLst xmlns:a="http://schemas.openxmlformats.org/drawingml/2006/main">
              <a:ext uri="{FF2B5EF4-FFF2-40B4-BE49-F238E27FC236}">
                <a16:creationId xmlns:a16="http://schemas.microsoft.com/office/drawing/2014/main" id="{3697F488-C3CA-4F81-A62C-A6DA24DC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52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copy-editing</a:t>
            </a:r>
          </a:p>
        </p:txBody>
      </p:sp>
      <p:sp>
        <p:nvSpPr>
          <p:cNvPr id="34" name="index-a-right-row-3-job">
            <a:extLst xmlns:a="http://schemas.openxmlformats.org/drawingml/2006/main">
              <a:ext uri="{FF2B5EF4-FFF2-40B4-BE49-F238E27FC236}">
                <a16:creationId xmlns:a16="http://schemas.microsoft.com/office/drawing/2014/main" id="{4A5322BA-C6FD-49D3-B041-DADCAB87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1529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polish existing marketing copy</a:t>
            </a:r>
          </a:p>
        </p:txBody>
      </p:sp>
      <p:sp>
        <p:nvSpPr>
          <p:cNvPr id="35" name="index-a-right-row-4-skill">
            <a:extLst xmlns:a="http://schemas.openxmlformats.org/drawingml/2006/main">
              <a:ext uri="{FF2B5EF4-FFF2-40B4-BE49-F238E27FC236}">
                <a16:creationId xmlns:a16="http://schemas.microsoft.com/office/drawing/2014/main" id="{72EB3137-9322-4895-A524-6FB33E4B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291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lead-magnets</a:t>
            </a:r>
          </a:p>
        </p:txBody>
      </p:sp>
      <p:sp>
        <p:nvSpPr>
          <p:cNvPr id="36" name="index-a-right-row-4-job">
            <a:extLst xmlns:a="http://schemas.openxmlformats.org/drawingml/2006/main">
              <a:ext uri="{FF2B5EF4-FFF2-40B4-BE49-F238E27FC236}">
                <a16:creationId xmlns:a16="http://schemas.microsoft.com/office/drawing/2014/main" id="{C89FF20D-3BE0-4EE5-8031-B1C912E7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6291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plan gated assets and opt-ins</a:t>
            </a:r>
          </a:p>
        </p:txBody>
      </p:sp>
      <p:sp>
        <p:nvSpPr>
          <p:cNvPr id="37" name="index-a-right-row-5-skill">
            <a:extLst xmlns:a="http://schemas.openxmlformats.org/drawingml/2006/main">
              <a:ext uri="{FF2B5EF4-FFF2-40B4-BE49-F238E27FC236}">
                <a16:creationId xmlns:a16="http://schemas.microsoft.com/office/drawing/2014/main" id="{2269ECF0-A305-4820-8AC8-F78CD97F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244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email-sequence</a:t>
            </a:r>
          </a:p>
        </p:txBody>
      </p:sp>
      <p:sp>
        <p:nvSpPr>
          <p:cNvPr id="38" name="index-a-right-row-5-job">
            <a:extLst xmlns:a="http://schemas.openxmlformats.org/drawingml/2006/main">
              <a:ext uri="{FF2B5EF4-FFF2-40B4-BE49-F238E27FC236}">
                <a16:creationId xmlns:a16="http://schemas.microsoft.com/office/drawing/2014/main" id="{668C64EF-F73C-4AE0-9900-30A2BD91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1244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build lifecycle and nurture flows</a:t>
            </a:r>
          </a:p>
        </p:txBody>
      </p:sp>
      <p:sp>
        <p:nvSpPr>
          <p:cNvPr id="39" name="index-a-right-row-6-skill">
            <a:extLst xmlns:a="http://schemas.openxmlformats.org/drawingml/2006/main">
              <a:ext uri="{FF2B5EF4-FFF2-40B4-BE49-F238E27FC236}">
                <a16:creationId xmlns:a16="http://schemas.microsoft.com/office/drawing/2014/main" id="{39296618-6BCD-4752-892C-4F1B2208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6007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cold-email</a:t>
            </a:r>
          </a:p>
        </p:txBody>
      </p:sp>
      <p:sp>
        <p:nvSpPr>
          <p:cNvPr id="40" name="index-a-right-row-6-job">
            <a:extLst xmlns:a="http://schemas.openxmlformats.org/drawingml/2006/main">
              <a:ext uri="{FF2B5EF4-FFF2-40B4-BE49-F238E27FC236}">
                <a16:creationId xmlns:a16="http://schemas.microsoft.com/office/drawing/2014/main" id="{19FB85A0-FF64-4DD4-9401-FBC396D2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6007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write outbound sequences</a:t>
            </a:r>
          </a:p>
        </p:txBody>
      </p:sp>
      <p:sp>
        <p:nvSpPr>
          <p:cNvPr id="41" name="index-a-right-row-7-skill">
            <a:extLst xmlns:a="http://schemas.openxmlformats.org/drawingml/2006/main">
              <a:ext uri="{FF2B5EF4-FFF2-40B4-BE49-F238E27FC236}">
                <a16:creationId xmlns:a16="http://schemas.microsoft.com/office/drawing/2014/main" id="{CB22EE16-FAB6-4846-84F8-4C2EF30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096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social-content</a:t>
            </a:r>
          </a:p>
        </p:txBody>
      </p:sp>
      <p:sp>
        <p:nvSpPr>
          <p:cNvPr id="42" name="index-a-right-row-7-job">
            <a:extLst xmlns:a="http://schemas.openxmlformats.org/drawingml/2006/main">
              <a:ext uri="{FF2B5EF4-FFF2-40B4-BE49-F238E27FC236}">
                <a16:creationId xmlns:a16="http://schemas.microsoft.com/office/drawing/2014/main" id="{A7C7C1F4-479E-47DA-AB5C-C9DC2945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0960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plan posts, repurposing, short-form hooks</a:t>
            </a:r>
          </a:p>
        </p:txBody>
      </p:sp>
      <p:sp>
        <p:nvSpPr>
          <p:cNvPr id="43" name="index-a-right-row-8-skill">
            <a:extLst xmlns:a="http://schemas.openxmlformats.org/drawingml/2006/main">
              <a:ext uri="{FF2B5EF4-FFF2-40B4-BE49-F238E27FC236}">
                <a16:creationId xmlns:a16="http://schemas.microsoft.com/office/drawing/2014/main" id="{0001E356-524D-4168-A15A-2562953B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5722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ad-creative</a:t>
            </a:r>
          </a:p>
        </p:txBody>
      </p:sp>
      <p:sp>
        <p:nvSpPr>
          <p:cNvPr id="44" name="index-a-right-row-8-job">
            <a:extLst xmlns:a="http://schemas.openxmlformats.org/drawingml/2006/main">
              <a:ext uri="{FF2B5EF4-FFF2-40B4-BE49-F238E27FC236}">
                <a16:creationId xmlns:a16="http://schemas.microsoft.com/office/drawing/2014/main" id="{ECF9C558-7203-4578-8A64-05A8F9FF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5722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generate paid ad copy variants</a:t>
            </a:r>
          </a:p>
        </p:txBody>
      </p:sp>
      <p:sp>
        <p:nvSpPr>
          <p:cNvPr id="45" name="index-a-right-row-9-skill">
            <a:extLst xmlns:a="http://schemas.openxmlformats.org/drawingml/2006/main">
              <a:ext uri="{FF2B5EF4-FFF2-40B4-BE49-F238E27FC236}">
                <a16:creationId xmlns:a16="http://schemas.microsoft.com/office/drawing/2014/main" id="{AA45316A-81AD-4201-906F-888F21EB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067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paid-ads</a:t>
            </a:r>
          </a:p>
        </p:txBody>
      </p:sp>
      <p:sp>
        <p:nvSpPr>
          <p:cNvPr id="46" name="index-a-right-row-9-job">
            <a:extLst xmlns:a="http://schemas.openxmlformats.org/drawingml/2006/main">
              <a:ext uri="{FF2B5EF4-FFF2-40B4-BE49-F238E27FC236}">
                <a16:creationId xmlns:a16="http://schemas.microsoft.com/office/drawing/2014/main" id="{B241DC65-0143-4985-8B30-1627AB4A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70675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plan campaigns, targeting, budgets</a:t>
            </a:r>
          </a:p>
        </p:txBody>
      </p:sp>
      <p:sp>
        <p:nvSpPr>
          <p:cNvPr id="47" name="index-a-right-row-10-skill">
            <a:extLst xmlns:a="http://schemas.openxmlformats.org/drawingml/2006/main">
              <a:ext uri="{FF2B5EF4-FFF2-40B4-BE49-F238E27FC236}">
                <a16:creationId xmlns:a16="http://schemas.microsoft.com/office/drawing/2014/main" id="{F8278863-B560-4374-8507-5263AFA9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5438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55A6"/>
                </a:solidFill>
              </a:defRPr>
            </a:pPr>
            <a:r>
              <a:rPr sz="1200" b="1">
                <a:solidFill>
                  <a:srgbClr val="2455A6"/>
                </a:solidFill>
              </a:rPr>
              <a:t>marketing-psychology</a:t>
            </a:r>
          </a:p>
        </p:txBody>
      </p:sp>
      <p:sp>
        <p:nvSpPr>
          <p:cNvPr id="48" name="index-a-right-row-10-job">
            <a:extLst xmlns:a="http://schemas.openxmlformats.org/drawingml/2006/main">
              <a:ext uri="{FF2B5EF4-FFF2-40B4-BE49-F238E27FC236}">
                <a16:creationId xmlns:a16="http://schemas.microsoft.com/office/drawing/2014/main" id="{8E328020-9817-43BC-B2E6-1CAAB39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75438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apply decision and persuasion principles</a:t>
            </a:r>
          </a:p>
        </p:txBody>
      </p:sp>
      <p:sp>
        <p:nvSpPr>
          <p:cNvPr id="4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A06C218F-1FF7-4E27-A10A-3EDE85BC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107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6B61"/>
                </a:solidFill>
              </a:defRPr>
            </a:pPr>
            <a:r>
              <a:rPr sz="1050" b="0">
                <a:solidFill>
                  <a:srgbClr val="716B61"/>
                </a:solidFill>
              </a:rPr>
              <a:t>Source: .github/skills skill names and frontmatter descriptions.</a:t>
            </a:r>
          </a:p>
        </p:txBody>
      </p:sp>
    </p:spTree>
    <p:extLst>
      <p:ext uri="{BB962C8B-B14F-4D97-AF65-F5344CB8AC3E}">
        <p14:creationId xmlns:p14="http://schemas.microsoft.com/office/powerpoint/2010/main" val="17777326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C1B0F3-5A88-4F6D-9935-7B091EFD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top-ribbon">
            <a:extLst xmlns:a="http://schemas.openxmlformats.org/drawingml/2006/main">
              <a:ext uri="{FF2B5EF4-FFF2-40B4-BE49-F238E27FC236}">
                <a16:creationId xmlns:a16="http://schemas.microsoft.com/office/drawing/2014/main" id="{5B16A5B3-B44B-4366-8571-33AC3D6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70E5AA-17EA-4C04-9DD2-430E4184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10629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Skill index: SEO, research, strategy, and revenue systems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A0E73C6-7C4D-4FF1-AD58-F32985B0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115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575"/>
                </a:solidFill>
              </a:defRPr>
            </a:pPr>
            <a:r>
              <a:rPr sz="1725" b="0">
                <a:solidFill>
                  <a:srgbClr val="5B6575"/>
                </a:solidFill>
              </a:rPr>
              <a:t>The second half of the library covers discoverability, market intelligence, launches, partnerships, and sales motion.</a:t>
            </a:r>
          </a:p>
        </p:txBody>
      </p:sp>
      <p:sp>
        <p:nvSpPr>
          <p:cNvPr id="5" name="index-b-left">
            <a:extLst xmlns:a="http://schemas.openxmlformats.org/drawingml/2006/main">
              <a:ext uri="{FF2B5EF4-FFF2-40B4-BE49-F238E27FC236}">
                <a16:creationId xmlns:a16="http://schemas.microsoft.com/office/drawing/2014/main" id="{C450ED5E-FC5A-400C-AE38-340C03B3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8201025" cy="648843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6" name="index-b-left-title">
            <a:extLst xmlns:a="http://schemas.openxmlformats.org/drawingml/2006/main">
              <a:ext uri="{FF2B5EF4-FFF2-40B4-BE49-F238E27FC236}">
                <a16:creationId xmlns:a16="http://schemas.microsoft.com/office/drawing/2014/main" id="{23F46E09-8FCD-4691-9828-0C532326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782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5E45"/>
                </a:solidFill>
              </a:defRPr>
            </a:pPr>
            <a:r>
              <a:rPr sz="1650" b="1">
                <a:solidFill>
                  <a:srgbClr val="E45E45"/>
                </a:solidFill>
              </a:rPr>
              <a:t>SEO and research</a:t>
            </a:r>
          </a:p>
        </p:txBody>
      </p:sp>
      <p:sp>
        <p:nvSpPr>
          <p:cNvPr id="7" name="index-b-left-row-1-skill">
            <a:extLst xmlns:a="http://schemas.openxmlformats.org/drawingml/2006/main">
              <a:ext uri="{FF2B5EF4-FFF2-40B4-BE49-F238E27FC236}">
                <a16:creationId xmlns:a16="http://schemas.microsoft.com/office/drawing/2014/main" id="{2DCF0395-D7E3-4410-91C8-C9F4187C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seo-audit</a:t>
            </a:r>
          </a:p>
        </p:txBody>
      </p:sp>
      <p:sp>
        <p:nvSpPr>
          <p:cNvPr id="8" name="index-b-left-row-1-job">
            <a:extLst xmlns:a="http://schemas.openxmlformats.org/drawingml/2006/main">
              <a:ext uri="{FF2B5EF4-FFF2-40B4-BE49-F238E27FC236}">
                <a16:creationId xmlns:a16="http://schemas.microsoft.com/office/drawing/2014/main" id="{A7AFD8F9-D1EF-4DEF-9A16-ED81C048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813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find technical and on-page SEO issues</a:t>
            </a:r>
          </a:p>
        </p:txBody>
      </p:sp>
      <p:sp>
        <p:nvSpPr>
          <p:cNvPr id="9" name="index-b-left-row-2-skill">
            <a:extLst xmlns:a="http://schemas.openxmlformats.org/drawingml/2006/main">
              <a:ext uri="{FF2B5EF4-FFF2-40B4-BE49-F238E27FC236}">
                <a16:creationId xmlns:a16="http://schemas.microsoft.com/office/drawing/2014/main" id="{7B558036-B085-468B-8BC1-10823B5D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ai-seo</a:t>
            </a:r>
          </a:p>
        </p:txBody>
      </p:sp>
      <p:sp>
        <p:nvSpPr>
          <p:cNvPr id="10" name="index-b-left-row-2-job">
            <a:extLst xmlns:a="http://schemas.openxmlformats.org/drawingml/2006/main">
              <a:ext uri="{FF2B5EF4-FFF2-40B4-BE49-F238E27FC236}">
                <a16:creationId xmlns:a16="http://schemas.microsoft.com/office/drawing/2014/main" id="{442A4116-AA56-43B0-A16E-36C7B83D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576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optimize for AI answers and citations</a:t>
            </a:r>
          </a:p>
        </p:txBody>
      </p:sp>
      <p:sp>
        <p:nvSpPr>
          <p:cNvPr id="11" name="index-b-left-row-3-skill">
            <a:extLst xmlns:a="http://schemas.openxmlformats.org/drawingml/2006/main">
              <a:ext uri="{FF2B5EF4-FFF2-40B4-BE49-F238E27FC236}">
                <a16:creationId xmlns:a16="http://schemas.microsoft.com/office/drawing/2014/main" id="{3AB3C335-D8E5-4F16-BD60-2AC0AB87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schema-markup</a:t>
            </a:r>
          </a:p>
        </p:txBody>
      </p:sp>
      <p:sp>
        <p:nvSpPr>
          <p:cNvPr id="12" name="index-b-left-row-3-job">
            <a:extLst xmlns:a="http://schemas.openxmlformats.org/drawingml/2006/main">
              <a:ext uri="{FF2B5EF4-FFF2-40B4-BE49-F238E27FC236}">
                <a16:creationId xmlns:a16="http://schemas.microsoft.com/office/drawing/2014/main" id="{0D9078DA-85CC-411B-9A0D-ED5D15A6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529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add structured data and rich-result markup</a:t>
            </a:r>
          </a:p>
        </p:txBody>
      </p:sp>
      <p:sp>
        <p:nvSpPr>
          <p:cNvPr id="13" name="index-b-left-row-4-skill">
            <a:extLst xmlns:a="http://schemas.openxmlformats.org/drawingml/2006/main">
              <a:ext uri="{FF2B5EF4-FFF2-40B4-BE49-F238E27FC236}">
                <a16:creationId xmlns:a16="http://schemas.microsoft.com/office/drawing/2014/main" id="{AE3D2AC5-BB8C-4448-B741-668D8443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programmatic-seo</a:t>
            </a:r>
          </a:p>
        </p:txBody>
      </p:sp>
      <p:sp>
        <p:nvSpPr>
          <p:cNvPr id="14" name="index-b-left-row-4-job">
            <a:extLst xmlns:a="http://schemas.openxmlformats.org/drawingml/2006/main">
              <a:ext uri="{FF2B5EF4-FFF2-40B4-BE49-F238E27FC236}">
                <a16:creationId xmlns:a16="http://schemas.microsoft.com/office/drawing/2014/main" id="{87A76960-343C-40E9-A706-1607559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291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plan template pages at scale</a:t>
            </a:r>
          </a:p>
        </p:txBody>
      </p:sp>
      <p:sp>
        <p:nvSpPr>
          <p:cNvPr id="15" name="index-b-left-row-5-skill">
            <a:extLst xmlns:a="http://schemas.openxmlformats.org/drawingml/2006/main">
              <a:ext uri="{FF2B5EF4-FFF2-40B4-BE49-F238E27FC236}">
                <a16:creationId xmlns:a16="http://schemas.microsoft.com/office/drawing/2014/main" id="{B45E1775-A36A-4E77-82B2-6DB971A5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site-architecture</a:t>
            </a:r>
          </a:p>
        </p:txBody>
      </p:sp>
      <p:sp>
        <p:nvSpPr>
          <p:cNvPr id="16" name="index-b-left-row-5-job">
            <a:extLst xmlns:a="http://schemas.openxmlformats.org/drawingml/2006/main">
              <a:ext uri="{FF2B5EF4-FFF2-40B4-BE49-F238E27FC236}">
                <a16:creationId xmlns:a16="http://schemas.microsoft.com/office/drawing/2014/main" id="{0F3B071C-B782-40EB-85BB-B26CB9EA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map navigation and page hierarchy</a:t>
            </a:r>
          </a:p>
        </p:txBody>
      </p:sp>
      <p:sp>
        <p:nvSpPr>
          <p:cNvPr id="17" name="index-b-left-row-6-skill">
            <a:extLst xmlns:a="http://schemas.openxmlformats.org/drawingml/2006/main">
              <a:ext uri="{FF2B5EF4-FFF2-40B4-BE49-F238E27FC236}">
                <a16:creationId xmlns:a16="http://schemas.microsoft.com/office/drawing/2014/main" id="{4B172D8E-0961-4952-8087-E1106FE2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007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directory-submissions</a:t>
            </a:r>
          </a:p>
        </p:txBody>
      </p:sp>
      <p:sp>
        <p:nvSpPr>
          <p:cNvPr id="18" name="index-b-left-row-6-job">
            <a:extLst xmlns:a="http://schemas.openxmlformats.org/drawingml/2006/main">
              <a:ext uri="{FF2B5EF4-FFF2-40B4-BE49-F238E27FC236}">
                <a16:creationId xmlns:a16="http://schemas.microsoft.com/office/drawing/2014/main" id="{322B0470-5B3F-4186-878B-72223FC7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007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plan directory backlinks and listings</a:t>
            </a:r>
          </a:p>
        </p:txBody>
      </p:sp>
      <p:sp>
        <p:nvSpPr>
          <p:cNvPr id="19" name="index-b-left-row-7-skill">
            <a:extLst xmlns:a="http://schemas.openxmlformats.org/drawingml/2006/main">
              <a:ext uri="{FF2B5EF4-FFF2-40B4-BE49-F238E27FC236}">
                <a16:creationId xmlns:a16="http://schemas.microsoft.com/office/drawing/2014/main" id="{6589F41D-D79A-4D42-906D-4DCDE18C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96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aso-audit</a:t>
            </a:r>
          </a:p>
        </p:txBody>
      </p:sp>
      <p:sp>
        <p:nvSpPr>
          <p:cNvPr id="20" name="index-b-left-row-7-job">
            <a:extLst xmlns:a="http://schemas.openxmlformats.org/drawingml/2006/main">
              <a:ext uri="{FF2B5EF4-FFF2-40B4-BE49-F238E27FC236}">
                <a16:creationId xmlns:a16="http://schemas.microsoft.com/office/drawing/2014/main" id="{69E12566-86D2-4CA7-8811-69BCAAD5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960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improve app store visibility and conversion</a:t>
            </a:r>
          </a:p>
        </p:txBody>
      </p:sp>
      <p:sp>
        <p:nvSpPr>
          <p:cNvPr id="21" name="index-b-left-row-8-skill">
            <a:extLst xmlns:a="http://schemas.openxmlformats.org/drawingml/2006/main">
              <a:ext uri="{FF2B5EF4-FFF2-40B4-BE49-F238E27FC236}">
                <a16:creationId xmlns:a16="http://schemas.microsoft.com/office/drawing/2014/main" id="{8BD72754-3ADB-4468-990D-CAF84B47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722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competitor-profiling</a:t>
            </a:r>
          </a:p>
        </p:txBody>
      </p:sp>
      <p:sp>
        <p:nvSpPr>
          <p:cNvPr id="22" name="index-b-left-row-8-job">
            <a:extLst xmlns:a="http://schemas.openxmlformats.org/drawingml/2006/main">
              <a:ext uri="{FF2B5EF4-FFF2-40B4-BE49-F238E27FC236}">
                <a16:creationId xmlns:a16="http://schemas.microsoft.com/office/drawing/2014/main" id="{BC57ED1D-84FA-4592-870C-DA590EC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722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research competitors from URLs</a:t>
            </a:r>
          </a:p>
        </p:txBody>
      </p:sp>
      <p:sp>
        <p:nvSpPr>
          <p:cNvPr id="23" name="index-b-left-row-9-skill">
            <a:extLst xmlns:a="http://schemas.openxmlformats.org/drawingml/2006/main">
              <a:ext uri="{FF2B5EF4-FFF2-40B4-BE49-F238E27FC236}">
                <a16:creationId xmlns:a16="http://schemas.microsoft.com/office/drawing/2014/main" id="{F59080A7-6E07-43C9-8328-BC40CF56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067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competitor-alternatives</a:t>
            </a:r>
          </a:p>
        </p:txBody>
      </p:sp>
      <p:sp>
        <p:nvSpPr>
          <p:cNvPr id="24" name="index-b-left-row-9-job">
            <a:extLst xmlns:a="http://schemas.openxmlformats.org/drawingml/2006/main">
              <a:ext uri="{FF2B5EF4-FFF2-40B4-BE49-F238E27FC236}">
                <a16:creationId xmlns:a16="http://schemas.microsoft.com/office/drawing/2014/main" id="{295CD1AC-8623-4852-9E89-11990CF0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0675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build vs and alternative pages</a:t>
            </a:r>
          </a:p>
        </p:txBody>
      </p:sp>
      <p:sp>
        <p:nvSpPr>
          <p:cNvPr id="25" name="index-b-left-row-10-skill">
            <a:extLst xmlns:a="http://schemas.openxmlformats.org/drawingml/2006/main">
              <a:ext uri="{FF2B5EF4-FFF2-40B4-BE49-F238E27FC236}">
                <a16:creationId xmlns:a16="http://schemas.microsoft.com/office/drawing/2014/main" id="{603279A2-B04C-46B1-AD01-7E04322F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5438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5E45"/>
                </a:solidFill>
              </a:defRPr>
            </a:pPr>
            <a:r>
              <a:rPr sz="1200" b="1">
                <a:solidFill>
                  <a:srgbClr val="E45E45"/>
                </a:solidFill>
              </a:rPr>
              <a:t>customer-research</a:t>
            </a:r>
          </a:p>
        </p:txBody>
      </p:sp>
      <p:sp>
        <p:nvSpPr>
          <p:cNvPr id="26" name="index-b-left-row-10-job">
            <a:extLst xmlns:a="http://schemas.openxmlformats.org/drawingml/2006/main">
              <a:ext uri="{FF2B5EF4-FFF2-40B4-BE49-F238E27FC236}">
                <a16:creationId xmlns:a16="http://schemas.microsoft.com/office/drawing/2014/main" id="{DE362B35-C2CB-4D44-91AA-9E336600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5438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synthesize interviews, reviews, VOC</a:t>
            </a:r>
          </a:p>
        </p:txBody>
      </p:sp>
      <p:sp>
        <p:nvSpPr>
          <p:cNvPr id="27" name="index-b-right">
            <a:extLst xmlns:a="http://schemas.openxmlformats.org/drawingml/2006/main">
              <a:ext uri="{FF2B5EF4-FFF2-40B4-BE49-F238E27FC236}">
                <a16:creationId xmlns:a16="http://schemas.microsoft.com/office/drawing/2014/main" id="{5257DCD5-DFB6-4A30-A241-EF3B69D6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47950"/>
            <a:ext cx="8201025" cy="648843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28" name="index-b-right-title">
            <a:extLst xmlns:a="http://schemas.openxmlformats.org/drawingml/2006/main">
              <a:ext uri="{FF2B5EF4-FFF2-40B4-BE49-F238E27FC236}">
                <a16:creationId xmlns:a16="http://schemas.microsoft.com/office/drawing/2014/main" id="{7A2DFEF0-EF14-4E72-8B5B-DCD79D94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19400"/>
            <a:ext cx="782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6B57"/>
                </a:solidFill>
              </a:defRPr>
            </a:pPr>
            <a:r>
              <a:rPr sz="1650" b="1">
                <a:solidFill>
                  <a:srgbClr val="0E6B57"/>
                </a:solidFill>
              </a:rPr>
              <a:t>Strategy and revenue</a:t>
            </a:r>
          </a:p>
        </p:txBody>
      </p:sp>
      <p:sp>
        <p:nvSpPr>
          <p:cNvPr id="29" name="index-b-right-row-1-skill">
            <a:extLst xmlns:a="http://schemas.openxmlformats.org/drawingml/2006/main">
              <a:ext uri="{FF2B5EF4-FFF2-40B4-BE49-F238E27FC236}">
                <a16:creationId xmlns:a16="http://schemas.microsoft.com/office/drawing/2014/main" id="{C789941F-A7B9-4096-98FC-E1592791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813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product-marketing-context</a:t>
            </a:r>
          </a:p>
        </p:txBody>
      </p:sp>
      <p:sp>
        <p:nvSpPr>
          <p:cNvPr id="30" name="index-b-right-row-1-job">
            <a:extLst xmlns:a="http://schemas.openxmlformats.org/drawingml/2006/main">
              <a:ext uri="{FF2B5EF4-FFF2-40B4-BE49-F238E27FC236}">
                <a16:creationId xmlns:a16="http://schemas.microsoft.com/office/drawing/2014/main" id="{3578EC8A-8C42-4908-ADB6-28B6DA7D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1813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capture ICP, positioning, offer context</a:t>
            </a:r>
          </a:p>
        </p:txBody>
      </p:sp>
      <p:sp>
        <p:nvSpPr>
          <p:cNvPr id="31" name="index-b-right-row-2-skill">
            <a:extLst xmlns:a="http://schemas.openxmlformats.org/drawingml/2006/main">
              <a:ext uri="{FF2B5EF4-FFF2-40B4-BE49-F238E27FC236}">
                <a16:creationId xmlns:a16="http://schemas.microsoft.com/office/drawing/2014/main" id="{6C6E0154-F8D6-4C7E-9BAE-D2759EDE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57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marketing-ideas</a:t>
            </a:r>
          </a:p>
        </p:txBody>
      </p:sp>
      <p:sp>
        <p:nvSpPr>
          <p:cNvPr id="32" name="index-b-right-row-2-job">
            <a:extLst xmlns:a="http://schemas.openxmlformats.org/drawingml/2006/main">
              <a:ext uri="{FF2B5EF4-FFF2-40B4-BE49-F238E27FC236}">
                <a16:creationId xmlns:a16="http://schemas.microsoft.com/office/drawing/2014/main" id="{BC92DC63-A27E-4D81-BB4D-73AEA560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6576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brainstorm growth tactics</a:t>
            </a:r>
          </a:p>
        </p:txBody>
      </p:sp>
      <p:sp>
        <p:nvSpPr>
          <p:cNvPr id="33" name="index-b-right-row-3-skill">
            <a:extLst xmlns:a="http://schemas.openxmlformats.org/drawingml/2006/main">
              <a:ext uri="{FF2B5EF4-FFF2-40B4-BE49-F238E27FC236}">
                <a16:creationId xmlns:a16="http://schemas.microsoft.com/office/drawing/2014/main" id="{3434A22C-7798-410C-8C19-1A8F44BC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52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launch-strategy</a:t>
            </a:r>
          </a:p>
        </p:txBody>
      </p:sp>
      <p:sp>
        <p:nvSpPr>
          <p:cNvPr id="34" name="index-b-right-row-3-job">
            <a:extLst xmlns:a="http://schemas.openxmlformats.org/drawingml/2006/main">
              <a:ext uri="{FF2B5EF4-FFF2-40B4-BE49-F238E27FC236}">
                <a16:creationId xmlns:a16="http://schemas.microsoft.com/office/drawing/2014/main" id="{11B20C70-7B8F-4C5A-A664-118F5C33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1529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plan launches and announcements</a:t>
            </a:r>
          </a:p>
        </p:txBody>
      </p:sp>
      <p:sp>
        <p:nvSpPr>
          <p:cNvPr id="35" name="index-b-right-row-4-skill">
            <a:extLst xmlns:a="http://schemas.openxmlformats.org/drawingml/2006/main">
              <a:ext uri="{FF2B5EF4-FFF2-40B4-BE49-F238E27FC236}">
                <a16:creationId xmlns:a16="http://schemas.microsoft.com/office/drawing/2014/main" id="{939E11DC-9CE1-44D5-91CC-3CA40E0A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291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co-marketing</a:t>
            </a:r>
          </a:p>
        </p:txBody>
      </p:sp>
      <p:sp>
        <p:nvSpPr>
          <p:cNvPr id="36" name="index-b-right-row-4-job">
            <a:extLst xmlns:a="http://schemas.openxmlformats.org/drawingml/2006/main">
              <a:ext uri="{FF2B5EF4-FFF2-40B4-BE49-F238E27FC236}">
                <a16:creationId xmlns:a16="http://schemas.microsoft.com/office/drawing/2014/main" id="{93912DD7-6F95-4E74-9158-3FE828F7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6291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find and plan partner campaigns</a:t>
            </a:r>
          </a:p>
        </p:txBody>
      </p:sp>
      <p:sp>
        <p:nvSpPr>
          <p:cNvPr id="37" name="index-b-right-row-5-skill">
            <a:extLst xmlns:a="http://schemas.openxmlformats.org/drawingml/2006/main">
              <a:ext uri="{FF2B5EF4-FFF2-40B4-BE49-F238E27FC236}">
                <a16:creationId xmlns:a16="http://schemas.microsoft.com/office/drawing/2014/main" id="{C8FC8011-A0BE-4F79-AFF2-C253E6FF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244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community-marketing</a:t>
            </a:r>
          </a:p>
        </p:txBody>
      </p:sp>
      <p:sp>
        <p:nvSpPr>
          <p:cNvPr id="38" name="index-b-right-row-5-job">
            <a:extLst xmlns:a="http://schemas.openxmlformats.org/drawingml/2006/main">
              <a:ext uri="{FF2B5EF4-FFF2-40B4-BE49-F238E27FC236}">
                <a16:creationId xmlns:a16="http://schemas.microsoft.com/office/drawing/2014/main" id="{852AA85B-DC6C-4FD9-8A6F-2ECE9774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1244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grow communities and advocates</a:t>
            </a:r>
          </a:p>
        </p:txBody>
      </p:sp>
      <p:sp>
        <p:nvSpPr>
          <p:cNvPr id="39" name="index-b-right-row-6-skill">
            <a:extLst xmlns:a="http://schemas.openxmlformats.org/drawingml/2006/main">
              <a:ext uri="{FF2B5EF4-FFF2-40B4-BE49-F238E27FC236}">
                <a16:creationId xmlns:a16="http://schemas.microsoft.com/office/drawing/2014/main" id="{9A2AB017-6EF9-492D-BBE8-0305C6F9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6007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referral-program</a:t>
            </a:r>
          </a:p>
        </p:txBody>
      </p:sp>
      <p:sp>
        <p:nvSpPr>
          <p:cNvPr id="40" name="index-b-right-row-6-job">
            <a:extLst xmlns:a="http://schemas.openxmlformats.org/drawingml/2006/main">
              <a:ext uri="{FF2B5EF4-FFF2-40B4-BE49-F238E27FC236}">
                <a16:creationId xmlns:a16="http://schemas.microsoft.com/office/drawing/2014/main" id="{06006E88-7F78-4FA6-8EFB-0AAD9E28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6007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design referral and affiliate loops</a:t>
            </a:r>
          </a:p>
        </p:txBody>
      </p:sp>
      <p:sp>
        <p:nvSpPr>
          <p:cNvPr id="41" name="index-b-right-row-7-skill">
            <a:extLst xmlns:a="http://schemas.openxmlformats.org/drawingml/2006/main">
              <a:ext uri="{FF2B5EF4-FFF2-40B4-BE49-F238E27FC236}">
                <a16:creationId xmlns:a16="http://schemas.microsoft.com/office/drawing/2014/main" id="{C247C2A7-2787-45D5-ABBA-43EB3BD1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096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revops</a:t>
            </a:r>
          </a:p>
        </p:txBody>
      </p:sp>
      <p:sp>
        <p:nvSpPr>
          <p:cNvPr id="42" name="index-b-right-row-7-job">
            <a:extLst xmlns:a="http://schemas.openxmlformats.org/drawingml/2006/main">
              <a:ext uri="{FF2B5EF4-FFF2-40B4-BE49-F238E27FC236}">
                <a16:creationId xmlns:a16="http://schemas.microsoft.com/office/drawing/2014/main" id="{3C16BE51-D6B2-4FC8-AF9F-8B8A8C1A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0960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connect marketing to pipeline operations</a:t>
            </a:r>
          </a:p>
        </p:txBody>
      </p:sp>
      <p:sp>
        <p:nvSpPr>
          <p:cNvPr id="43" name="index-b-right-row-8-skill">
            <a:extLst xmlns:a="http://schemas.openxmlformats.org/drawingml/2006/main">
              <a:ext uri="{FF2B5EF4-FFF2-40B4-BE49-F238E27FC236}">
                <a16:creationId xmlns:a16="http://schemas.microsoft.com/office/drawing/2014/main" id="{3FB92180-2BC3-427B-880B-5EAE2440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5722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sales-enablement</a:t>
            </a:r>
          </a:p>
        </p:txBody>
      </p:sp>
      <p:sp>
        <p:nvSpPr>
          <p:cNvPr id="44" name="index-b-right-row-8-job">
            <a:extLst xmlns:a="http://schemas.openxmlformats.org/drawingml/2006/main">
              <a:ext uri="{FF2B5EF4-FFF2-40B4-BE49-F238E27FC236}">
                <a16:creationId xmlns:a16="http://schemas.microsoft.com/office/drawing/2014/main" id="{17869819-A25C-47C7-A44F-1AF2E0E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5722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create sales collateral and talk tracks</a:t>
            </a:r>
          </a:p>
        </p:txBody>
      </p:sp>
      <p:sp>
        <p:nvSpPr>
          <p:cNvPr id="45" name="index-b-right-row-9-skill">
            <a:extLst xmlns:a="http://schemas.openxmlformats.org/drawingml/2006/main">
              <a:ext uri="{FF2B5EF4-FFF2-40B4-BE49-F238E27FC236}">
                <a16:creationId xmlns:a16="http://schemas.microsoft.com/office/drawing/2014/main" id="{0D97C19C-954D-4B95-AD47-045841CA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067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free-tool-strategy</a:t>
            </a:r>
          </a:p>
        </p:txBody>
      </p:sp>
      <p:sp>
        <p:nvSpPr>
          <p:cNvPr id="46" name="index-b-right-row-9-job">
            <a:extLst xmlns:a="http://schemas.openxmlformats.org/drawingml/2006/main">
              <a:ext uri="{FF2B5EF4-FFF2-40B4-BE49-F238E27FC236}">
                <a16:creationId xmlns:a16="http://schemas.microsoft.com/office/drawing/2014/main" id="{D8EF358A-EFE1-4CC1-91A0-0FC41F1E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70675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plan engineering-as-marketing tools</a:t>
            </a:r>
          </a:p>
        </p:txBody>
      </p:sp>
      <p:sp>
        <p:nvSpPr>
          <p:cNvPr id="47" name="index-b-right-row-10-skill">
            <a:extLst xmlns:a="http://schemas.openxmlformats.org/drawingml/2006/main">
              <a:ext uri="{FF2B5EF4-FFF2-40B4-BE49-F238E27FC236}">
                <a16:creationId xmlns:a16="http://schemas.microsoft.com/office/drawing/2014/main" id="{B0276D30-AAF1-4E28-BBE7-8BB501B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5438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6B57"/>
                </a:solidFill>
              </a:defRPr>
            </a:pPr>
            <a:r>
              <a:rPr sz="1200" b="1">
                <a:solidFill>
                  <a:srgbClr val="0E6B57"/>
                </a:solidFill>
              </a:rPr>
              <a:t>image / video</a:t>
            </a:r>
          </a:p>
        </p:txBody>
      </p:sp>
      <p:sp>
        <p:nvSpPr>
          <p:cNvPr id="48" name="index-b-right-row-10-job">
            <a:extLst xmlns:a="http://schemas.openxmlformats.org/drawingml/2006/main">
              <a:ext uri="{FF2B5EF4-FFF2-40B4-BE49-F238E27FC236}">
                <a16:creationId xmlns:a16="http://schemas.microsoft.com/office/drawing/2014/main" id="{088C99DE-0610-4C2E-A2BE-24AF9F42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75438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create visual and video marketing assets</a:t>
            </a:r>
          </a:p>
        </p:txBody>
      </p:sp>
      <p:sp>
        <p:nvSpPr>
          <p:cNvPr id="4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7D159055-5384-4AA9-B1D0-A4AA9AD6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107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6B61"/>
                </a:solidFill>
              </a:defRPr>
            </a:pPr>
            <a:r>
              <a:rPr sz="1050" b="0">
                <a:solidFill>
                  <a:srgbClr val="716B61"/>
                </a:solidFill>
              </a:rPr>
              <a:t>Source: .github/skills skill names and frontmatter descriptions.</a:t>
            </a:r>
          </a:p>
        </p:txBody>
      </p:sp>
    </p:spTree>
    <p:extLst>
      <p:ext uri="{BB962C8B-B14F-4D97-AF65-F5344CB8AC3E}">
        <p14:creationId xmlns:p14="http://schemas.microsoft.com/office/powerpoint/2010/main" val="322608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3E09826-71A5-473F-A07A-54C92F8F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top-ribbon">
            <a:extLst xmlns:a="http://schemas.openxmlformats.org/drawingml/2006/main">
              <a:ext uri="{FF2B5EF4-FFF2-40B4-BE49-F238E27FC236}">
                <a16:creationId xmlns:a16="http://schemas.microsoft.com/office/drawing/2014/main" id="{857B3556-8249-4F76-964E-8D43D63F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582652-F68C-4FC2-99D5-7398F909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68770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MCP is the live data and action layer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004C021-B280-4B63-8141-5B0D2364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591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575"/>
                </a:solidFill>
              </a:defRPr>
            </a:pPr>
            <a:r>
              <a:rPr sz="1725" b="0">
                <a:solidFill>
                  <a:srgbClr val="5B6575"/>
                </a:solidFill>
              </a:rPr>
              <a:t>The registry tells agents which external systems can be used through APIs, CLIs, SDKs, native MCP servers, or Composio.</a:t>
            </a:r>
          </a:p>
        </p:txBody>
      </p:sp>
      <p:sp>
        <p:nvSpPr>
          <p:cNvPr id="5" name="native-title">
            <a:extLst xmlns:a="http://schemas.openxmlformats.org/drawingml/2006/main">
              <a:ext uri="{FF2B5EF4-FFF2-40B4-BE49-F238E27FC236}">
                <a16:creationId xmlns:a16="http://schemas.microsoft.com/office/drawing/2014/main" id="{E372B2EF-9960-4DBD-A84E-82F3F964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20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6B57"/>
                </a:solidFill>
              </a:defRPr>
            </a:pPr>
            <a:r>
              <a:rPr sz="2175" b="1">
                <a:solidFill>
                  <a:srgbClr val="0E6B57"/>
                </a:solidFill>
              </a:rPr>
              <a:t>Native MCP tools</a:t>
            </a:r>
          </a:p>
        </p:txBody>
      </p:sp>
      <p:sp>
        <p:nvSpPr>
          <p:cNvPr id="6" name="native-list">
            <a:extLst xmlns:a="http://schemas.openxmlformats.org/drawingml/2006/main">
              <a:ext uri="{FF2B5EF4-FFF2-40B4-BE49-F238E27FC236}">
                <a16:creationId xmlns:a16="http://schemas.microsoft.com/office/drawing/2014/main" id="{ADD1CB2C-1582-485C-B44C-FFC124D7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5200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74151"/>
                </a:solidFill>
              </a:defRPr>
            </a:pPr>
            <a:r>
              <a:rPr sz="1650" b="0">
                <a:solidFill>
                  <a:srgbClr val="374151"/>
                </a:solidFill>
              </a:rPr>
              <a:t>GA4, Stripe, Mailchimp, Google Ads, Resend, Zapier, ZoomInfo, Clay, Supermetrics, Coupler, Outreach, Crossbeam, Introw.</a:t>
            </a:r>
          </a:p>
        </p:txBody>
      </p:sp>
      <p:sp>
        <p:nvSpPr>
          <p:cNvPr id="7" name="native-note">
            <a:extLst xmlns:a="http://schemas.openxmlformats.org/drawingml/2006/main">
              <a:ext uri="{FF2B5EF4-FFF2-40B4-BE49-F238E27FC236}">
                <a16:creationId xmlns:a16="http://schemas.microsoft.com/office/drawing/2014/main" id="{4F6C1772-CD1B-4B00-A90B-A046F2A9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5200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575"/>
                </a:solidFill>
              </a:defRPr>
            </a:pPr>
            <a:r>
              <a:rPr sz="1500" b="0">
                <a:solidFill>
                  <a:srgbClr val="5B6575"/>
                </a:solidFill>
              </a:rPr>
              <a:t>Best for deeper, purpose-built operations where a native server exists.</a:t>
            </a:r>
          </a:p>
        </p:txBody>
      </p:sp>
      <p:sp>
        <p:nvSpPr>
          <p:cNvPr id="8" name="composio-title">
            <a:extLst xmlns:a="http://schemas.openxmlformats.org/drawingml/2006/main">
              <a:ext uri="{FF2B5EF4-FFF2-40B4-BE49-F238E27FC236}">
                <a16:creationId xmlns:a16="http://schemas.microsoft.com/office/drawing/2014/main" id="{3F5AC968-112B-4447-ACA6-AF1B53E7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71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55A6"/>
                </a:solidFill>
              </a:defRPr>
            </a:pPr>
            <a:r>
              <a:rPr sz="2175" b="1">
                <a:solidFill>
                  <a:srgbClr val="2455A6"/>
                </a:solidFill>
              </a:rPr>
              <a:t>Composio bridge</a:t>
            </a:r>
          </a:p>
        </p:txBody>
      </p:sp>
      <p:sp>
        <p:nvSpPr>
          <p:cNvPr id="9" name="composio-list">
            <a:extLst xmlns:a="http://schemas.openxmlformats.org/drawingml/2006/main">
              <a:ext uri="{FF2B5EF4-FFF2-40B4-BE49-F238E27FC236}">
                <a16:creationId xmlns:a16="http://schemas.microsoft.com/office/drawing/2014/main" id="{0AFFEC57-F636-471A-9AF5-9F5892CF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5715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74151"/>
                </a:solidFill>
              </a:defRPr>
            </a:pPr>
            <a:r>
              <a:rPr sz="1650" b="0">
                <a:solidFill>
                  <a:srgbClr val="374151"/>
                </a:solidFill>
              </a:rPr>
              <a:t>Adds MCP access for OAuth-heavy systems like HubSpot, Salesforce, Meta Ads, LinkedIn Ads, Google Sheets, Slack, Notion, Airtable, Shopify, Gmail, Klaviyo, and ActiveCampaign.</a:t>
            </a:r>
          </a:p>
        </p:txBody>
      </p:sp>
      <p:sp>
        <p:nvSpPr>
          <p:cNvPr id="10" name="composio-note">
            <a:extLst xmlns:a="http://schemas.openxmlformats.org/drawingml/2006/main">
              <a:ext uri="{FF2B5EF4-FFF2-40B4-BE49-F238E27FC236}">
                <a16:creationId xmlns:a16="http://schemas.microsoft.com/office/drawing/2014/main" id="{B8E28A04-4501-4B22-82A6-E7480AB7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575"/>
                </a:solidFill>
              </a:defRPr>
            </a:pPr>
            <a:r>
              <a:rPr sz="1500" b="0">
                <a:solidFill>
                  <a:srgbClr val="5B6575"/>
                </a:solidFill>
              </a:rPr>
              <a:t>Use it when the repo has CLI/API guidance but no native MCP server.</a:t>
            </a:r>
          </a:p>
        </p:txBody>
      </p:sp>
      <p:sp>
        <p:nvSpPr>
          <p:cNvPr id="11" name="cli-title">
            <a:extLst xmlns:a="http://schemas.openxmlformats.org/drawingml/2006/main">
              <a:ext uri="{FF2B5EF4-FFF2-40B4-BE49-F238E27FC236}">
                <a16:creationId xmlns:a16="http://schemas.microsoft.com/office/drawing/2014/main" id="{3EC0E09E-5C17-49D2-8010-D4A2132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47950"/>
            <a:ext cx="520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45E45"/>
                </a:solidFill>
              </a:defRPr>
            </a:pPr>
            <a:r>
              <a:rPr sz="2175" b="1">
                <a:solidFill>
                  <a:srgbClr val="E45E45"/>
                </a:solidFill>
              </a:rPr>
              <a:t>CLI adapters</a:t>
            </a:r>
          </a:p>
        </p:txBody>
      </p:sp>
      <p:sp>
        <p:nvSpPr>
          <p:cNvPr id="12" name="cli-copy">
            <a:extLst xmlns:a="http://schemas.openxmlformats.org/drawingml/2006/main">
              <a:ext uri="{FF2B5EF4-FFF2-40B4-BE49-F238E27FC236}">
                <a16:creationId xmlns:a16="http://schemas.microsoft.com/office/drawing/2014/main" id="{ED31ACB1-885E-497A-8E38-9330C49A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43250"/>
            <a:ext cx="5200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74151"/>
                </a:solidFill>
              </a:defRPr>
            </a:pPr>
            <a:r>
              <a:rPr sz="1650" b="0">
                <a:solidFill>
                  <a:srgbClr val="374151"/>
                </a:solidFill>
              </a:rPr>
              <a:t>61 zero-dependency Node scripts expose consistent commands, JSON output, env-var auth, and dry-run previews for marketing platforms.</a:t>
            </a:r>
          </a:p>
        </p:txBody>
      </p:sp>
      <p:sp>
        <p:nvSpPr>
          <p:cNvPr id="13" name="cli-note">
            <a:extLst xmlns:a="http://schemas.openxmlformats.org/drawingml/2006/main">
              <a:ext uri="{FF2B5EF4-FFF2-40B4-BE49-F238E27FC236}">
                <a16:creationId xmlns:a16="http://schemas.microsoft.com/office/drawing/2014/main" id="{013DAA86-8823-4018-A1C8-F85D257B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076700"/>
            <a:ext cx="5200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575"/>
                </a:solidFill>
              </a:defRPr>
            </a:pPr>
            <a:r>
              <a:rPr sz="1500" b="0">
                <a:solidFill>
                  <a:srgbClr val="5B6575"/>
                </a:solidFill>
              </a:rPr>
              <a:t>They are useful when MCP is unavailable or when the agent needs a simple auditable request path.</a:t>
            </a:r>
          </a:p>
        </p:txBody>
      </p:sp>
      <p:sp>
        <p:nvSpPr>
          <p:cNvPr id="14" name="source-rail">
            <a:extLst xmlns:a="http://schemas.openxmlformats.org/drawingml/2006/main">
              <a:ext uri="{FF2B5EF4-FFF2-40B4-BE49-F238E27FC236}">
                <a16:creationId xmlns:a16="http://schemas.microsoft.com/office/drawing/2014/main" id="{CEE2098B-D0A3-4E4B-B736-871FDF1D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107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6B61"/>
                </a:solidFill>
              </a:defRPr>
            </a:pPr>
            <a:r>
              <a:rPr sz="1050" b="0">
                <a:solidFill>
                  <a:srgbClr val="716B61"/>
                </a:solidFill>
              </a:rPr>
              <a:t>Source: tools/REGISTRY.md and tools/composio/marketing-tools.md.</a:t>
            </a:r>
          </a:p>
        </p:txBody>
      </p:sp>
    </p:spTree>
    <p:extLst>
      <p:ext uri="{BB962C8B-B14F-4D97-AF65-F5344CB8AC3E}">
        <p14:creationId xmlns:p14="http://schemas.microsoft.com/office/powerpoint/2010/main" val="6313611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5A1F11F-E2F3-48DD-9B74-49324116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top-ribbon">
            <a:extLst xmlns:a="http://schemas.openxmlformats.org/drawingml/2006/main">
              <a:ext uri="{FF2B5EF4-FFF2-40B4-BE49-F238E27FC236}">
                <a16:creationId xmlns:a16="http://schemas.microsoft.com/office/drawing/2014/main" id="{E75329FF-CF5D-4480-A9F2-916D78E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D0CF33-3415-4D3F-AB4A-18F171E0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88392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A real request becomes a repeatable workflow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D634A3-DEFD-4724-A647-04910BF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1982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575"/>
                </a:solidFill>
              </a:defRPr>
            </a:pPr>
            <a:r>
              <a:rPr sz="1725" b="0">
                <a:solidFill>
                  <a:srgbClr val="5B6575"/>
                </a:solidFill>
              </a:rPr>
              <a:t>The skill keeps the agent from improvising from scratch; the tool registry gives it a path to inspect, validate, or execute in the real stack.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DC8A9CCD-FE00-4A78-8DB9-FBB0B409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3192780" cy="6488430"/>
          </a:xfrm>
          <a:prstGeom xmlns:a="http://schemas.openxmlformats.org/drawingml/2006/main" prst="roundRect">
            <a:avLst>
              <a:gd name="adj" fmla="val 3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6" name="step-1-num-bg">
            <a:extLst xmlns:a="http://schemas.openxmlformats.org/drawingml/2006/main">
              <a:ext uri="{FF2B5EF4-FFF2-40B4-BE49-F238E27FC236}">
                <a16:creationId xmlns:a16="http://schemas.microsoft.com/office/drawing/2014/main" id="{B25BF4E4-130B-4568-92C9-9CF573AE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7" name="step-1-num">
            <a:extLst xmlns:a="http://schemas.openxmlformats.org/drawingml/2006/main">
              <a:ext uri="{FF2B5EF4-FFF2-40B4-BE49-F238E27FC236}">
                <a16:creationId xmlns:a16="http://schemas.microsoft.com/office/drawing/2014/main" id="{E16CBE45-E5D0-447B-9AD0-DE2318A5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C3DDDE3-F50E-4E40-9FB9-2D416045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User asks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EA953E4F-9063-41BD-BF9E-942D573B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2819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5"/>
                </a:solidFill>
              </a:defRPr>
            </a:pPr>
            <a:r>
              <a:rPr sz="1350" b="0">
                <a:solidFill>
                  <a:srgbClr val="5B6575"/>
                </a:solidFill>
              </a:rPr>
              <a:t>“Set up analytics tracking for our signup funnel.”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48624477-A905-4DF8-9DFD-A3739EE3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2647950"/>
            <a:ext cx="3192780" cy="6488430"/>
          </a:xfrm>
          <a:prstGeom xmlns:a="http://schemas.openxmlformats.org/drawingml/2006/main" prst="roundRect">
            <a:avLst>
              <a:gd name="adj" fmla="val 3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11" name="step-2-num-bg">
            <a:extLst xmlns:a="http://schemas.openxmlformats.org/drawingml/2006/main">
              <a:ext uri="{FF2B5EF4-FFF2-40B4-BE49-F238E27FC236}">
                <a16:creationId xmlns:a16="http://schemas.microsoft.com/office/drawing/2014/main" id="{0744A9B3-F26A-4988-B3F5-6D8908CE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5A6"/>
          </a:solidFill>
          <a:ln xmlns:a="http://schemas.openxmlformats.org/drawingml/2006/main" w="0">
            <a:solidFill>
              <a:srgbClr val="2455A6"/>
            </a:solidFill>
            <a:prstDash val="solid"/>
          </a:ln>
        </p:spPr>
      </p:sp>
      <p:sp>
        <p:nvSpPr>
          <p:cNvPr id="12" name="step-2-num">
            <a:extLst xmlns:a="http://schemas.openxmlformats.org/drawingml/2006/main">
              <a:ext uri="{FF2B5EF4-FFF2-40B4-BE49-F238E27FC236}">
                <a16:creationId xmlns:a16="http://schemas.microsoft.com/office/drawing/2014/main" id="{AF3E713B-D527-4CE8-83F2-190BC843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DCAF94BE-AD19-48C1-A81C-58731C5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Agent selects skill</a:t>
            </a:r>
          </a:p>
        </p:txBody>
      </p:sp>
      <p:sp>
        <p:nvSpPr>
          <p:cNvPr id="14" name="step-2-body">
            <a:extLst xmlns:a="http://schemas.openxmlformats.org/drawingml/2006/main">
              <a:ext uri="{FF2B5EF4-FFF2-40B4-BE49-F238E27FC236}">
                <a16:creationId xmlns:a16="http://schemas.microsoft.com/office/drawing/2014/main" id="{31A025A1-8DBE-466D-B73F-5C99FFDC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2819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5"/>
                </a:solidFill>
              </a:defRPr>
            </a:pPr>
            <a:r>
              <a:rPr sz="1350" b="0">
                <a:solidFill>
                  <a:srgbClr val="5B6575"/>
                </a:solidFill>
              </a:rPr>
              <a:t>analytics-tracking activates because the request mentions tracking, GA4, events, and conversions.</a:t>
            </a:r>
          </a:p>
        </p:txBody>
      </p:sp>
      <p:sp>
        <p:nvSpPr>
          <p:cNvPr id="15" name="step-3">
            <a:extLst xmlns:a="http://schemas.openxmlformats.org/drawingml/2006/main">
              <a:ext uri="{FF2B5EF4-FFF2-40B4-BE49-F238E27FC236}">
                <a16:creationId xmlns:a16="http://schemas.microsoft.com/office/drawing/2014/main" id="{F29AA76A-66C5-4D42-98C1-D338A6B4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647950"/>
            <a:ext cx="3192780" cy="6488430"/>
          </a:xfrm>
          <a:prstGeom xmlns:a="http://schemas.openxmlformats.org/drawingml/2006/main" prst="roundRect">
            <a:avLst>
              <a:gd name="adj" fmla="val 3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16" name="step-3-num-bg">
            <a:extLst xmlns:a="http://schemas.openxmlformats.org/drawingml/2006/main">
              <a:ext uri="{FF2B5EF4-FFF2-40B4-BE49-F238E27FC236}">
                <a16:creationId xmlns:a16="http://schemas.microsoft.com/office/drawing/2014/main" id="{F6F60459-4954-4D2C-A9DB-591C298C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45"/>
          </a:solidFill>
          <a:ln xmlns:a="http://schemas.openxmlformats.org/drawingml/2006/main" w="0">
            <a:solidFill>
              <a:srgbClr val="E45E45"/>
            </a:solidFill>
            <a:prstDash val="solid"/>
          </a:ln>
        </p:spPr>
      </p:sp>
      <p:sp>
        <p:nvSpPr>
          <p:cNvPr id="17" name="step-3-num">
            <a:extLst xmlns:a="http://schemas.openxmlformats.org/drawingml/2006/main">
              <a:ext uri="{FF2B5EF4-FFF2-40B4-BE49-F238E27FC236}">
                <a16:creationId xmlns:a16="http://schemas.microsoft.com/office/drawing/2014/main" id="{22D6DB9C-A02E-43B0-A213-8B107DB5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4805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013AEAF3-4EA5-4B42-B6E9-3ECBB72E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Skill structures work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29B2D693-5D63-40BB-9476-FB2E86A9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2819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5"/>
                </a:solidFill>
              </a:defRPr>
            </a:pPr>
            <a:r>
              <a:rPr sz="1350" b="0">
                <a:solidFill>
                  <a:srgbClr val="5B6575"/>
                </a:solidFill>
              </a:rPr>
              <a:t>Define events, properties, naming conventions, destinations, and validation checks.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24AD0682-2A04-487E-8EBB-9A867AE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2647950"/>
            <a:ext cx="3192780" cy="6488430"/>
          </a:xfrm>
          <a:prstGeom xmlns:a="http://schemas.openxmlformats.org/drawingml/2006/main" prst="roundRect">
            <a:avLst>
              <a:gd name="adj" fmla="val 3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21" name="step-4-num-bg">
            <a:extLst xmlns:a="http://schemas.openxmlformats.org/drawingml/2006/main">
              <a:ext uri="{FF2B5EF4-FFF2-40B4-BE49-F238E27FC236}">
                <a16:creationId xmlns:a16="http://schemas.microsoft.com/office/drawing/2014/main" id="{A84839E3-235F-4D10-B284-8987CB9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2" name="step-4-num">
            <a:extLst xmlns:a="http://schemas.openxmlformats.org/drawingml/2006/main">
              <a:ext uri="{FF2B5EF4-FFF2-40B4-BE49-F238E27FC236}">
                <a16:creationId xmlns:a16="http://schemas.microsoft.com/office/drawing/2014/main" id="{AB215072-A4BA-4DED-A96A-6118C218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44805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A74A1AE3-9B47-47B8-AE78-ACB25C29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9052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Tool layer executes</a:t>
            </a:r>
          </a:p>
        </p:txBody>
      </p:sp>
      <p:sp>
        <p:nvSpPr>
          <p:cNvPr id="24" name="step-4-body">
            <a:extLst xmlns:a="http://schemas.openxmlformats.org/drawingml/2006/main">
              <a:ext uri="{FF2B5EF4-FFF2-40B4-BE49-F238E27FC236}">
                <a16:creationId xmlns:a16="http://schemas.microsoft.com/office/drawing/2014/main" id="{CC402523-058F-4799-AAAC-96833D91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305300"/>
            <a:ext cx="2819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5"/>
                </a:solidFill>
              </a:defRPr>
            </a:pPr>
            <a:r>
              <a:rPr sz="1350" b="0">
                <a:solidFill>
                  <a:srgbClr val="5B6575"/>
                </a:solidFill>
              </a:rPr>
              <a:t>Use GA4 / Segment / Mixpanel guides, native MCP if configured, or CLI dry-runs for API calls.</a:t>
            </a:r>
          </a:p>
        </p:txBody>
      </p:sp>
      <p:sp>
        <p:nvSpPr>
          <p:cNvPr id="25" name="step-5">
            <a:extLst xmlns:a="http://schemas.openxmlformats.org/drawingml/2006/main">
              <a:ext uri="{FF2B5EF4-FFF2-40B4-BE49-F238E27FC236}">
                <a16:creationId xmlns:a16="http://schemas.microsoft.com/office/drawing/2014/main" id="{452BAC11-7195-4D58-9501-C8DA95FA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6070" y="2647950"/>
            <a:ext cx="3192780" cy="6488430"/>
          </a:xfrm>
          <a:prstGeom xmlns:a="http://schemas.openxmlformats.org/drawingml/2006/main" prst="roundRect">
            <a:avLst>
              <a:gd name="adj" fmla="val 3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CCBD"/>
            </a:solidFill>
            <a:prstDash val="solid"/>
          </a:ln>
        </p:spPr>
      </p:sp>
      <p:sp>
        <p:nvSpPr>
          <p:cNvPr id="26" name="step-5-num-bg">
            <a:extLst xmlns:a="http://schemas.openxmlformats.org/drawingml/2006/main">
              <a:ext uri="{FF2B5EF4-FFF2-40B4-BE49-F238E27FC236}">
                <a16:creationId xmlns:a16="http://schemas.microsoft.com/office/drawing/2014/main" id="{11948710-743C-4B00-B24F-FBB71D17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57"/>
          </a:solidFill>
          <a:ln xmlns:a="http://schemas.openxmlformats.org/drawingml/2006/main" w="0">
            <a:solidFill>
              <a:srgbClr val="0E6B57"/>
            </a:solidFill>
            <a:prstDash val="solid"/>
          </a:ln>
        </p:spPr>
      </p:sp>
      <p:sp>
        <p:nvSpPr>
          <p:cNvPr id="27" name="step-5-num">
            <a:extLst xmlns:a="http://schemas.openxmlformats.org/drawingml/2006/main">
              <a:ext uri="{FF2B5EF4-FFF2-40B4-BE49-F238E27FC236}">
                <a16:creationId xmlns:a16="http://schemas.microsoft.com/office/drawing/2014/main" id="{2EF7C95C-8600-4F5A-90E7-1FD79524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344805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A7F71AB3-BA73-4BB8-8760-33793B38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39052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Output lands</a:t>
            </a:r>
          </a:p>
        </p:txBody>
      </p:sp>
      <p:sp>
        <p:nvSpPr>
          <p:cNvPr id="29" name="step-5-body">
            <a:extLst xmlns:a="http://schemas.openxmlformats.org/drawingml/2006/main">
              <a:ext uri="{FF2B5EF4-FFF2-40B4-BE49-F238E27FC236}">
                <a16:creationId xmlns:a16="http://schemas.microsoft.com/office/drawing/2014/main" id="{31882B86-78DE-4213-B396-D4356B36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4305300"/>
            <a:ext cx="2819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5"/>
                </a:solidFill>
              </a:defRPr>
            </a:pPr>
            <a:r>
              <a:rPr sz="1350" b="0">
                <a:solidFill>
                  <a:srgbClr val="5B6575"/>
                </a:solidFill>
              </a:rPr>
              <a:t>Tracking plan, implementation tasks, test checklist, and next measurement questions.</a:t>
            </a:r>
          </a:p>
        </p:txBody>
      </p:sp>
      <p:sp>
        <p:nvSpPr>
          <p:cNvPr id="3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DD18040E-A772-4869-8C68-DCB8FE2B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107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6B61"/>
                </a:solidFill>
              </a:defRPr>
            </a:pPr>
            <a:r>
              <a:rPr sz="1050" b="0">
                <a:solidFill>
                  <a:srgbClr val="716B61"/>
                </a:solidFill>
              </a:rPr>
              <a:t>Example synthesized from analytics-tracking skill and tools registry behavior.</a:t>
            </a:r>
          </a:p>
        </p:txBody>
      </p:sp>
    </p:spTree>
    <p:extLst>
      <p:ext uri="{BB962C8B-B14F-4D97-AF65-F5344CB8AC3E}">
        <p14:creationId xmlns:p14="http://schemas.microsoft.com/office/powerpoint/2010/main" val="984536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2026-05-11T05:55:05.1940000Z</dcterms:created>
  <dcterms:modified xsi:type="dcterms:W3CDTF">2026-05-11T05:55:05.1940000Z</dcterms:modified>
</coreProperties>
</file>